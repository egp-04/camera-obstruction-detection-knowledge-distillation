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3460750" cx="4610100"/>
  <p:notesSz cx="4610100" cy="3460750"/>
  <p:embeddedFontLs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0" roundtripDataSignature="AMtx7mgsAfRbN8cEJQatCRFpDWYkLkd+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Tahoma-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ahoma-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461000" y="1643850"/>
            <a:ext cx="3688075" cy="15573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118c12210_0_142: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b118c12210_0_142: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118c12210_0_150: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b118c12210_0_150: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118c12210_0_76: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b118c12210_0_7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118c12210_0_68: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b118c12210_0_68: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118c12210_0_34: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b118c12210_0_34: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118c12210_0_26: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b118c12210_0_26: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118c12210_0_45: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b118c12210_0_45: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118c12210_0_113: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b118c12210_0_113: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118c12210_0_122: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b118c12210_0_122: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118c12210_0_1: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b118c12210_0_1: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118c12210_0_9:notes"/>
          <p:cNvSpPr txBox="1"/>
          <p:nvPr>
            <p:ph idx="1" type="body"/>
          </p:nvPr>
        </p:nvSpPr>
        <p:spPr>
          <a:xfrm>
            <a:off x="461000" y="1643850"/>
            <a:ext cx="3688200" cy="15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b118c12210_0_9:notes"/>
          <p:cNvSpPr/>
          <p:nvPr>
            <p:ph idx="2" type="sldImg"/>
          </p:nvPr>
        </p:nvSpPr>
        <p:spPr>
          <a:xfrm>
            <a:off x="768500" y="259550"/>
            <a:ext cx="3073500" cy="1297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131292" y="753463"/>
            <a:ext cx="2011045" cy="2076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body"/>
          </p:nvPr>
        </p:nvSpPr>
        <p:spPr>
          <a:xfrm>
            <a:off x="410565" y="1538687"/>
            <a:ext cx="3650615" cy="89852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000">
                <a:solidFill>
                  <a:srgbClr val="3B3B3B"/>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13"/>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5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3"/>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3"/>
          <p:cNvSpPr txBox="1"/>
          <p:nvPr>
            <p:ph idx="12" type="sldNum"/>
          </p:nvPr>
        </p:nvSpPr>
        <p:spPr>
          <a:xfrm>
            <a:off x="3319272" y="3218497"/>
            <a:ext cx="1060323" cy="17303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14"/>
          <p:cNvSpPr txBox="1"/>
          <p:nvPr>
            <p:ph type="ctrTitle"/>
          </p:nvPr>
        </p:nvSpPr>
        <p:spPr>
          <a:xfrm>
            <a:off x="131292" y="753463"/>
            <a:ext cx="3369945" cy="2076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subTitle"/>
          </p:nvPr>
        </p:nvSpPr>
        <p:spPr>
          <a:xfrm>
            <a:off x="401599" y="1736071"/>
            <a:ext cx="3806901" cy="4051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000">
                <a:solidFill>
                  <a:srgbClr val="3B3B3B"/>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5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4"/>
          <p:cNvSpPr txBox="1"/>
          <p:nvPr>
            <p:ph idx="12" type="sldNum"/>
          </p:nvPr>
        </p:nvSpPr>
        <p:spPr>
          <a:xfrm>
            <a:off x="3319272" y="3218497"/>
            <a:ext cx="1060323" cy="17303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15"/>
          <p:cNvSpPr txBox="1"/>
          <p:nvPr>
            <p:ph type="title"/>
          </p:nvPr>
        </p:nvSpPr>
        <p:spPr>
          <a:xfrm>
            <a:off x="131292" y="753463"/>
            <a:ext cx="2011045" cy="2076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5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5"/>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2" type="sldNum"/>
          </p:nvPr>
        </p:nvSpPr>
        <p:spPr>
          <a:xfrm>
            <a:off x="3319272" y="3218497"/>
            <a:ext cx="1060323" cy="17303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 name="Shape 32"/>
        <p:cNvGrpSpPr/>
        <p:nvPr/>
      </p:nvGrpSpPr>
      <p:grpSpPr>
        <a:xfrm>
          <a:off x="0" y="0"/>
          <a:ext cx="0" cy="0"/>
          <a:chOff x="0" y="0"/>
          <a:chExt cx="0" cy="0"/>
        </a:xfrm>
      </p:grpSpPr>
      <p:sp>
        <p:nvSpPr>
          <p:cNvPr id="33" name="Google Shape;33;p16"/>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5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6"/>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2" type="sldNum"/>
          </p:nvPr>
        </p:nvSpPr>
        <p:spPr>
          <a:xfrm>
            <a:off x="3319272" y="3218497"/>
            <a:ext cx="1060323" cy="17303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6" name="Shape 36"/>
        <p:cNvGrpSpPr/>
        <p:nvPr/>
      </p:nvGrpSpPr>
      <p:grpSpPr>
        <a:xfrm>
          <a:off x="0" y="0"/>
          <a:ext cx="0" cy="0"/>
          <a:chOff x="0" y="0"/>
          <a:chExt cx="0" cy="0"/>
        </a:xfrm>
      </p:grpSpPr>
      <p:sp>
        <p:nvSpPr>
          <p:cNvPr id="37" name="Google Shape;37;p17"/>
          <p:cNvSpPr txBox="1"/>
          <p:nvPr>
            <p:ph type="title"/>
          </p:nvPr>
        </p:nvSpPr>
        <p:spPr>
          <a:xfrm>
            <a:off x="131292" y="753463"/>
            <a:ext cx="2011045" cy="20764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230505" y="795972"/>
            <a:ext cx="2005393"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17"/>
          <p:cNvSpPr txBox="1"/>
          <p:nvPr>
            <p:ph idx="2" type="body"/>
          </p:nvPr>
        </p:nvSpPr>
        <p:spPr>
          <a:xfrm>
            <a:off x="2374201" y="795972"/>
            <a:ext cx="2005393"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7"/>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5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7"/>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2" type="sldNum"/>
          </p:nvPr>
        </p:nvSpPr>
        <p:spPr>
          <a:xfrm>
            <a:off x="3319272" y="3218497"/>
            <a:ext cx="1060323" cy="173037"/>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image" Target="../media/image3.jpg"/><Relationship Id="rId4" Type="http://schemas.openxmlformats.org/officeDocument/2006/relationships/slideLayout" Target="../slideLayouts/slideLayout1.xml"/><Relationship Id="rId9" Type="http://schemas.openxmlformats.org/officeDocument/2006/relationships/theme" Target="../theme/theme2.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2"/>
          <p:cNvPicPr preferRelativeResize="0"/>
          <p:nvPr/>
        </p:nvPicPr>
        <p:blipFill rotWithShape="1">
          <a:blip r:embed="rId1">
            <a:alphaModFix/>
          </a:blip>
          <a:srcRect b="0" l="0" r="0" t="0"/>
          <a:stretch/>
        </p:blipFill>
        <p:spPr>
          <a:xfrm>
            <a:off x="108000" y="0"/>
            <a:ext cx="397258" cy="395998"/>
          </a:xfrm>
          <a:prstGeom prst="rect">
            <a:avLst/>
          </a:prstGeom>
          <a:noFill/>
          <a:ln>
            <a:noFill/>
          </a:ln>
        </p:spPr>
      </p:pic>
      <p:pic>
        <p:nvPicPr>
          <p:cNvPr id="7" name="Google Shape;7;p12"/>
          <p:cNvPicPr preferRelativeResize="0"/>
          <p:nvPr/>
        </p:nvPicPr>
        <p:blipFill rotWithShape="1">
          <a:blip r:embed="rId2">
            <a:alphaModFix/>
          </a:blip>
          <a:srcRect b="0" l="0" r="0" t="0"/>
          <a:stretch/>
        </p:blipFill>
        <p:spPr>
          <a:xfrm>
            <a:off x="2106002" y="12"/>
            <a:ext cx="395986" cy="395986"/>
          </a:xfrm>
          <a:prstGeom prst="rect">
            <a:avLst/>
          </a:prstGeom>
          <a:noFill/>
          <a:ln>
            <a:noFill/>
          </a:ln>
        </p:spPr>
      </p:pic>
      <p:pic>
        <p:nvPicPr>
          <p:cNvPr id="8" name="Google Shape;8;p12"/>
          <p:cNvPicPr preferRelativeResize="0"/>
          <p:nvPr/>
        </p:nvPicPr>
        <p:blipFill rotWithShape="1">
          <a:blip r:embed="rId3">
            <a:alphaModFix/>
          </a:blip>
          <a:srcRect b="0" l="0" r="0" t="0"/>
          <a:stretch/>
        </p:blipFill>
        <p:spPr>
          <a:xfrm>
            <a:off x="3679278" y="0"/>
            <a:ext cx="820724" cy="395998"/>
          </a:xfrm>
          <a:prstGeom prst="rect">
            <a:avLst/>
          </a:prstGeom>
          <a:noFill/>
          <a:ln>
            <a:noFill/>
          </a:ln>
        </p:spPr>
      </p:pic>
      <p:sp>
        <p:nvSpPr>
          <p:cNvPr id="9" name="Google Shape;9;p12"/>
          <p:cNvSpPr/>
          <p:nvPr/>
        </p:nvSpPr>
        <p:spPr>
          <a:xfrm>
            <a:off x="0" y="558000"/>
            <a:ext cx="4608195" cy="432434"/>
          </a:xfrm>
          <a:custGeom>
            <a:rect b="b" l="l" r="r" t="t"/>
            <a:pathLst>
              <a:path extrusionOk="0" h="432434" w="4608195">
                <a:moveTo>
                  <a:pt x="4608004" y="0"/>
                </a:moveTo>
                <a:lnTo>
                  <a:pt x="0" y="0"/>
                </a:lnTo>
                <a:lnTo>
                  <a:pt x="0" y="432003"/>
                </a:lnTo>
                <a:lnTo>
                  <a:pt x="4608004" y="432003"/>
                </a:lnTo>
                <a:lnTo>
                  <a:pt x="4608004" y="0"/>
                </a:lnTo>
                <a:close/>
              </a:path>
            </a:pathLst>
          </a:custGeom>
          <a:solidFill>
            <a:srgbClr val="00468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 name="Google Shape;10;p12"/>
          <p:cNvSpPr txBox="1"/>
          <p:nvPr>
            <p:ph type="title"/>
          </p:nvPr>
        </p:nvSpPr>
        <p:spPr>
          <a:xfrm>
            <a:off x="131292" y="753463"/>
            <a:ext cx="2011045" cy="20764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410565" y="1538687"/>
            <a:ext cx="3650615" cy="89852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000" u="none" cap="none" strike="noStrike">
                <a:solidFill>
                  <a:srgbClr val="3B3B3B"/>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2"/>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500">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2"/>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2"/>
          <p:cNvSpPr txBox="1"/>
          <p:nvPr>
            <p:ph idx="12" type="sldNum"/>
          </p:nvPr>
        </p:nvSpPr>
        <p:spPr>
          <a:xfrm>
            <a:off x="3319272" y="3218497"/>
            <a:ext cx="1060323" cy="173037"/>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mailto:your.email@iiitdm.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 name="Shape 46"/>
        <p:cNvGrpSpPr/>
        <p:nvPr/>
      </p:nvGrpSpPr>
      <p:grpSpPr>
        <a:xfrm>
          <a:off x="0" y="0"/>
          <a:ext cx="0" cy="0"/>
          <a:chOff x="0" y="0"/>
          <a:chExt cx="0" cy="0"/>
        </a:xfrm>
      </p:grpSpPr>
      <p:sp>
        <p:nvSpPr>
          <p:cNvPr id="47" name="Google Shape;47;p1"/>
          <p:cNvSpPr txBox="1"/>
          <p:nvPr>
            <p:ph type="title"/>
          </p:nvPr>
        </p:nvSpPr>
        <p:spPr>
          <a:xfrm>
            <a:off x="474300" y="165550"/>
            <a:ext cx="3659400" cy="710700"/>
          </a:xfrm>
          <a:prstGeom prst="rect">
            <a:avLst/>
          </a:prstGeom>
          <a:noFill/>
          <a:ln>
            <a:noFill/>
          </a:ln>
        </p:spPr>
        <p:txBody>
          <a:bodyPr anchorCtr="0" anchor="t" bIns="0" lIns="0" spcFirstLastPara="1" rIns="0" wrap="square" tIns="63500">
            <a:spAutoFit/>
          </a:bodyPr>
          <a:lstStyle/>
          <a:p>
            <a:pPr indent="0" lvl="0" marL="0" rtl="0" algn="ctr">
              <a:lnSpc>
                <a:spcPct val="100000"/>
              </a:lnSpc>
              <a:spcBef>
                <a:spcPts val="0"/>
              </a:spcBef>
              <a:spcAft>
                <a:spcPts val="0"/>
              </a:spcAft>
              <a:buNone/>
            </a:pPr>
            <a:r>
              <a:rPr lang="en-US" sz="1400">
                <a:solidFill>
                  <a:srgbClr val="00468C"/>
                </a:solidFill>
              </a:rPr>
              <a:t>Knowledge Distillation-based modeling for Camera Obstruction Detection using a custom Dataset</a:t>
            </a:r>
            <a:endParaRPr/>
          </a:p>
        </p:txBody>
      </p:sp>
      <p:sp>
        <p:nvSpPr>
          <p:cNvPr id="48" name="Google Shape;48;p1"/>
          <p:cNvSpPr txBox="1"/>
          <p:nvPr/>
        </p:nvSpPr>
        <p:spPr>
          <a:xfrm>
            <a:off x="533900" y="954250"/>
            <a:ext cx="3544200" cy="812400"/>
          </a:xfrm>
          <a:prstGeom prst="rect">
            <a:avLst/>
          </a:prstGeom>
          <a:noFill/>
          <a:ln>
            <a:noFill/>
          </a:ln>
        </p:spPr>
        <p:txBody>
          <a:bodyPr anchorCtr="0" anchor="t" bIns="0" lIns="0" spcFirstLastPara="1" rIns="0" wrap="square" tIns="12050">
            <a:spAutoFit/>
          </a:bodyPr>
          <a:lstStyle/>
          <a:p>
            <a:pPr indent="0" lvl="0" marL="0" rtl="0" algn="ctr">
              <a:lnSpc>
                <a:spcPct val="100000"/>
              </a:lnSpc>
              <a:spcBef>
                <a:spcPts val="0"/>
              </a:spcBef>
              <a:spcAft>
                <a:spcPts val="0"/>
              </a:spcAft>
              <a:buNone/>
            </a:pPr>
            <a:r>
              <a:rPr lang="en-US" sz="1000">
                <a:solidFill>
                  <a:srgbClr val="3B3B3B"/>
                </a:solidFill>
                <a:latin typeface="Tahoma"/>
                <a:ea typeface="Tahoma"/>
                <a:cs typeface="Tahoma"/>
                <a:sym typeface="Tahoma"/>
              </a:rPr>
              <a:t>Emmanuel George P</a:t>
            </a:r>
            <a:r>
              <a:rPr lang="en-US" sz="1000">
                <a:latin typeface="Tahoma"/>
                <a:ea typeface="Tahoma"/>
                <a:cs typeface="Tahoma"/>
                <a:sym typeface="Tahoma"/>
              </a:rPr>
              <a:t>      </a:t>
            </a:r>
            <a:r>
              <a:rPr lang="en-US" sz="1000">
                <a:solidFill>
                  <a:srgbClr val="3B3B3B"/>
                </a:solidFill>
                <a:latin typeface="Tahoma"/>
                <a:ea typeface="Tahoma"/>
                <a:cs typeface="Tahoma"/>
                <a:sym typeface="Tahoma"/>
              </a:rPr>
              <a:t>Aileen Emelda V    Dr. Masilamani V</a:t>
            </a:r>
            <a:endParaRPr sz="1000">
              <a:solidFill>
                <a:srgbClr val="3B3B3B"/>
              </a:solidFill>
              <a:latin typeface="Tahoma"/>
              <a:ea typeface="Tahoma"/>
              <a:cs typeface="Tahoma"/>
              <a:sym typeface="Tahoma"/>
            </a:endParaRPr>
          </a:p>
          <a:p>
            <a:pPr indent="0" lvl="0" marL="0" rtl="0" algn="ctr">
              <a:lnSpc>
                <a:spcPct val="116999"/>
              </a:lnSpc>
              <a:spcBef>
                <a:spcPts val="0"/>
              </a:spcBef>
              <a:spcAft>
                <a:spcPts val="0"/>
              </a:spcAft>
              <a:buNone/>
            </a:pPr>
            <a:r>
              <a:rPr lang="en-US" sz="700">
                <a:solidFill>
                  <a:srgbClr val="3B3B3B"/>
                </a:solidFill>
              </a:rPr>
              <a:t>          IIIT Kottayam                      </a:t>
            </a:r>
            <a:r>
              <a:rPr lang="en-US" sz="700">
                <a:solidFill>
                  <a:srgbClr val="3B3B3B"/>
                </a:solidFill>
              </a:rPr>
              <a:t>IIITDM Kancheepuram      IIITDM Kancheepuram</a:t>
            </a:r>
            <a:endParaRPr sz="700">
              <a:latin typeface="Arial"/>
              <a:ea typeface="Arial"/>
              <a:cs typeface="Arial"/>
              <a:sym typeface="Arial"/>
            </a:endParaRPr>
          </a:p>
          <a:p>
            <a:pPr indent="0" lvl="0" marL="0" rtl="0" algn="l">
              <a:lnSpc>
                <a:spcPct val="100000"/>
              </a:lnSpc>
              <a:spcBef>
                <a:spcPts val="575"/>
              </a:spcBef>
              <a:spcAft>
                <a:spcPts val="0"/>
              </a:spcAft>
              <a:buNone/>
            </a:pPr>
            <a:r>
              <a:t/>
            </a:r>
            <a:endParaRPr sz="700">
              <a:latin typeface="Arial"/>
              <a:ea typeface="Arial"/>
              <a:cs typeface="Arial"/>
              <a:sym typeface="Arial"/>
            </a:endParaRPr>
          </a:p>
          <a:p>
            <a:pPr indent="0" lvl="0" marL="0" rtl="0" algn="ctr">
              <a:lnSpc>
                <a:spcPct val="120000"/>
              </a:lnSpc>
              <a:spcBef>
                <a:spcPts val="0"/>
              </a:spcBef>
              <a:spcAft>
                <a:spcPts val="0"/>
              </a:spcAft>
              <a:buNone/>
            </a:pPr>
            <a:r>
              <a:rPr lang="en-US" sz="1000">
                <a:solidFill>
                  <a:srgbClr val="3B3B3B"/>
                </a:solidFill>
                <a:latin typeface="Tahoma"/>
                <a:ea typeface="Tahoma"/>
                <a:cs typeface="Tahoma"/>
                <a:sym typeface="Tahoma"/>
              </a:rPr>
              <a:t>IEEE CICT 2025</a:t>
            </a:r>
            <a:endParaRPr sz="1000">
              <a:latin typeface="Tahoma"/>
              <a:ea typeface="Tahoma"/>
              <a:cs typeface="Tahoma"/>
              <a:sym typeface="Tahoma"/>
            </a:endParaRPr>
          </a:p>
          <a:p>
            <a:pPr indent="0" lvl="0" marL="0" rtl="0" algn="ctr">
              <a:lnSpc>
                <a:spcPct val="120000"/>
              </a:lnSpc>
              <a:spcBef>
                <a:spcPts val="0"/>
              </a:spcBef>
              <a:spcAft>
                <a:spcPts val="0"/>
              </a:spcAft>
              <a:buNone/>
            </a:pPr>
            <a:r>
              <a:rPr lang="en-US" sz="1000">
                <a:solidFill>
                  <a:srgbClr val="3B3B3B"/>
                </a:solidFill>
                <a:latin typeface="Tahoma"/>
                <a:ea typeface="Tahoma"/>
                <a:cs typeface="Tahoma"/>
                <a:sym typeface="Tahoma"/>
              </a:rPr>
              <a:t>19–21 December 2025</a:t>
            </a:r>
            <a:endParaRPr sz="1000">
              <a:latin typeface="Tahoma"/>
              <a:ea typeface="Tahoma"/>
              <a:cs typeface="Tahoma"/>
              <a:sym typeface="Tahoma"/>
            </a:endParaRPr>
          </a:p>
        </p:txBody>
      </p:sp>
      <p:pic>
        <p:nvPicPr>
          <p:cNvPr id="49" name="Google Shape;49;p1"/>
          <p:cNvPicPr preferRelativeResize="0"/>
          <p:nvPr/>
        </p:nvPicPr>
        <p:blipFill rotWithShape="1">
          <a:blip r:embed="rId3">
            <a:alphaModFix/>
          </a:blip>
          <a:srcRect b="0" l="0" r="0" t="0"/>
          <a:stretch/>
        </p:blipFill>
        <p:spPr>
          <a:xfrm>
            <a:off x="362724" y="2426243"/>
            <a:ext cx="722289" cy="720003"/>
          </a:xfrm>
          <a:prstGeom prst="rect">
            <a:avLst/>
          </a:prstGeom>
          <a:noFill/>
          <a:ln>
            <a:noFill/>
          </a:ln>
        </p:spPr>
      </p:pic>
      <p:pic>
        <p:nvPicPr>
          <p:cNvPr id="50" name="Google Shape;50;p1"/>
          <p:cNvPicPr preferRelativeResize="0"/>
          <p:nvPr/>
        </p:nvPicPr>
        <p:blipFill rotWithShape="1">
          <a:blip r:embed="rId4">
            <a:alphaModFix/>
          </a:blip>
          <a:srcRect b="0" l="0" r="0" t="0"/>
          <a:stretch/>
        </p:blipFill>
        <p:spPr>
          <a:xfrm>
            <a:off x="1559191" y="2426347"/>
            <a:ext cx="719899" cy="719899"/>
          </a:xfrm>
          <a:prstGeom prst="rect">
            <a:avLst/>
          </a:prstGeom>
          <a:noFill/>
          <a:ln>
            <a:noFill/>
          </a:ln>
        </p:spPr>
      </p:pic>
      <p:pic>
        <p:nvPicPr>
          <p:cNvPr id="51" name="Google Shape;51;p1"/>
          <p:cNvPicPr preferRelativeResize="0"/>
          <p:nvPr/>
        </p:nvPicPr>
        <p:blipFill rotWithShape="1">
          <a:blip r:embed="rId5">
            <a:alphaModFix/>
          </a:blip>
          <a:srcRect b="0" l="0" r="0" t="0"/>
          <a:stretch/>
        </p:blipFill>
        <p:spPr>
          <a:xfrm>
            <a:off x="2753271" y="2426310"/>
            <a:ext cx="1492097" cy="719937"/>
          </a:xfrm>
          <a:prstGeom prst="rect">
            <a:avLst/>
          </a:prstGeom>
          <a:noFill/>
          <a:ln>
            <a:noFill/>
          </a:ln>
        </p:spPr>
      </p:pic>
    </p:spTree>
  </p:cSld>
  <p:clrMapOvr>
    <a:masterClrMapping/>
  </p:clrMapOvr>
  <p:transition>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ph type="title"/>
          </p:nvPr>
        </p:nvSpPr>
        <p:spPr>
          <a:xfrm>
            <a:off x="131302" y="753475"/>
            <a:ext cx="6405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Outline</a:t>
            </a:r>
            <a:endParaRPr/>
          </a:p>
        </p:txBody>
      </p:sp>
      <p:sp>
        <p:nvSpPr>
          <p:cNvPr id="57" name="Google Shape;57;p2"/>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58" name="Google Shape;58;p2"/>
          <p:cNvSpPr txBox="1"/>
          <p:nvPr/>
        </p:nvSpPr>
        <p:spPr>
          <a:xfrm>
            <a:off x="347306" y="1325775"/>
            <a:ext cx="3861600" cy="1243500"/>
          </a:xfrm>
          <a:prstGeom prst="rect">
            <a:avLst/>
          </a:prstGeom>
          <a:noFill/>
          <a:ln>
            <a:noFill/>
          </a:ln>
        </p:spPr>
        <p:txBody>
          <a:bodyPr anchorCtr="0" anchor="t" bIns="0" lIns="0" spcFirstLastPara="1" rIns="0" wrap="square" tIns="12050">
            <a:spAutoFit/>
          </a:bodyPr>
          <a:lstStyle/>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Motivation</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Background</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Problem Statement</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Objectives</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System Architecture/Mathematical Formulation</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Key Results</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Discussion</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AutoNum type="arabicPeriod"/>
            </a:pPr>
            <a:r>
              <a:rPr lang="en-US" sz="1000">
                <a:solidFill>
                  <a:srgbClr val="3B3B3B"/>
                </a:solidFill>
                <a:latin typeface="Tahoma"/>
                <a:ea typeface="Tahoma"/>
                <a:cs typeface="Tahoma"/>
                <a:sym typeface="Tahoma"/>
              </a:rPr>
              <a:t>Conclusion</a:t>
            </a:r>
            <a:endParaRPr sz="1000">
              <a:solidFill>
                <a:srgbClr val="3B3B3B"/>
              </a:solidFill>
              <a:latin typeface="Tahoma"/>
              <a:ea typeface="Tahoma"/>
              <a:cs typeface="Tahoma"/>
              <a:sym typeface="Tahoma"/>
            </a:endParaRPr>
          </a:p>
        </p:txBody>
      </p:sp>
      <p:sp>
        <p:nvSpPr>
          <p:cNvPr id="59" name="Google Shape;59;p2"/>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ph type="title"/>
          </p:nvPr>
        </p:nvSpPr>
        <p:spPr>
          <a:xfrm>
            <a:off x="131292" y="753463"/>
            <a:ext cx="20110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Motivation</a:t>
            </a:r>
            <a:endParaRPr/>
          </a:p>
        </p:txBody>
      </p:sp>
      <p:sp>
        <p:nvSpPr>
          <p:cNvPr id="65" name="Google Shape;65;p3"/>
          <p:cNvSpPr txBox="1"/>
          <p:nvPr>
            <p:ph idx="11" type="ftr"/>
          </p:nvPr>
        </p:nvSpPr>
        <p:spPr>
          <a:xfrm>
            <a:off x="4287317" y="3341157"/>
            <a:ext cx="333300" cy="894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66" name="Google Shape;66;p3"/>
          <p:cNvSpPr txBox="1"/>
          <p:nvPr>
            <p:ph idx="1" type="body"/>
          </p:nvPr>
        </p:nvSpPr>
        <p:spPr>
          <a:xfrm>
            <a:off x="397225" y="1163825"/>
            <a:ext cx="3890100" cy="1974600"/>
          </a:xfrm>
          <a:prstGeom prst="rect">
            <a:avLst/>
          </a:prstGeom>
          <a:noFill/>
          <a:ln>
            <a:noFill/>
          </a:ln>
        </p:spPr>
        <p:txBody>
          <a:bodyPr anchorCtr="0" anchor="t" bIns="0" lIns="0" spcFirstLastPara="1" rIns="0" wrap="square" tIns="50150">
            <a:spAutoFit/>
          </a:bodyPr>
          <a:lstStyle/>
          <a:p>
            <a:pPr indent="-292100" lvl="0" marL="457200" rtl="0" algn="l">
              <a:lnSpc>
                <a:spcPct val="115000"/>
              </a:lnSpc>
              <a:spcBef>
                <a:spcPts val="1200"/>
              </a:spcBef>
              <a:spcAft>
                <a:spcPts val="0"/>
              </a:spcAft>
              <a:buSzPts val="1000"/>
              <a:buChar char="●"/>
            </a:pPr>
            <a:r>
              <a:rPr lang="en-US"/>
              <a:t>CCTV surveillance cameras, though extensively deployed for security in diverse environments, are highly susceptible to both intentional and accidental obstructions, which can render surveillance systems ineffective.</a:t>
            </a:r>
            <a:endParaRPr/>
          </a:p>
          <a:p>
            <a:pPr indent="-292100" lvl="0" marL="457200" rtl="0" algn="l">
              <a:lnSpc>
                <a:spcPct val="115000"/>
              </a:lnSpc>
              <a:spcBef>
                <a:spcPts val="0"/>
              </a:spcBef>
              <a:spcAft>
                <a:spcPts val="0"/>
              </a:spcAft>
              <a:buSzPts val="1000"/>
              <a:buChar char="●"/>
            </a:pPr>
            <a:r>
              <a:rPr lang="en-US"/>
              <a:t>The traditional reliance on human operators to constantly monitor live feeds for such blockages is not only time-consuming but also impractical, especially within large camera networks.</a:t>
            </a:r>
            <a:endParaRPr/>
          </a:p>
          <a:p>
            <a:pPr indent="-292100" lvl="0" marL="457200" rtl="0" algn="l">
              <a:lnSpc>
                <a:spcPct val="115000"/>
              </a:lnSpc>
              <a:spcBef>
                <a:spcPts val="0"/>
              </a:spcBef>
              <a:spcAft>
                <a:spcPts val="0"/>
              </a:spcAft>
              <a:buSzPts val="1000"/>
              <a:buChar char="●"/>
            </a:pPr>
            <a:r>
              <a:rPr lang="en-US"/>
              <a:t>Since CCTV surveillance data is sensitive information sending data to the cloud for processing is not ideal, thus we need a model that can run on edge devices with a decent accuracy.</a:t>
            </a:r>
            <a:endParaRPr/>
          </a:p>
        </p:txBody>
      </p:sp>
      <p:sp>
        <p:nvSpPr>
          <p:cNvPr id="67" name="Google Shape;67;p3"/>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ctrTitle"/>
          </p:nvPr>
        </p:nvSpPr>
        <p:spPr>
          <a:xfrm>
            <a:off x="131292" y="753463"/>
            <a:ext cx="33699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Background</a:t>
            </a:r>
            <a:endParaRPr/>
          </a:p>
        </p:txBody>
      </p:sp>
      <p:sp>
        <p:nvSpPr>
          <p:cNvPr id="73" name="Google Shape;73;p4"/>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74" name="Google Shape;74;p4"/>
          <p:cNvSpPr txBox="1"/>
          <p:nvPr/>
        </p:nvSpPr>
        <p:spPr>
          <a:xfrm>
            <a:off x="451951" y="1334900"/>
            <a:ext cx="3706200" cy="1656000"/>
          </a:xfrm>
          <a:prstGeom prst="rect">
            <a:avLst/>
          </a:prstGeom>
          <a:noFill/>
          <a:ln>
            <a:noFill/>
          </a:ln>
        </p:spPr>
        <p:txBody>
          <a:bodyPr anchorCtr="0" anchor="t" bIns="0" lIns="0" spcFirstLastPara="1" rIns="0" wrap="square" tIns="50150">
            <a:spAutoFit/>
          </a:bodyPr>
          <a:lstStyle/>
          <a:p>
            <a:pPr indent="-298450" lvl="0" marL="457200" rtl="0" algn="l">
              <a:lnSpc>
                <a:spcPct val="115000"/>
              </a:lnSpc>
              <a:spcBef>
                <a:spcPts val="1200"/>
              </a:spcBef>
              <a:spcAft>
                <a:spcPts val="0"/>
              </a:spcAft>
              <a:buClr>
                <a:schemeClr val="dk1"/>
              </a:buClr>
              <a:buSzPts val="1100"/>
              <a:buChar char="●"/>
            </a:pPr>
            <a:r>
              <a:rPr lang="en-US" sz="1000">
                <a:solidFill>
                  <a:srgbClr val="3B3B3B"/>
                </a:solidFill>
                <a:latin typeface="Tahoma"/>
                <a:ea typeface="Tahoma"/>
                <a:cs typeface="Tahoma"/>
                <a:sym typeface="Tahoma"/>
              </a:rPr>
              <a:t>Vikas et al. proposed ResNet-based models with GAN-augmented data to detect mud and water camera blockages, achieving high accuracy but lacking scalability to diverse CCTV obstructions and requiring heavy computation.</a:t>
            </a:r>
            <a:endParaRPr sz="1000">
              <a:solidFill>
                <a:srgbClr val="3B3B3B"/>
              </a:solidFill>
              <a:latin typeface="Tahoma"/>
              <a:ea typeface="Tahoma"/>
              <a:cs typeface="Tahoma"/>
              <a:sym typeface="Tahoma"/>
            </a:endParaRPr>
          </a:p>
          <a:p>
            <a:pPr indent="-298450" lvl="0" marL="457200" rtl="0" algn="l">
              <a:lnSpc>
                <a:spcPct val="115000"/>
              </a:lnSpc>
              <a:spcBef>
                <a:spcPts val="0"/>
              </a:spcBef>
              <a:spcAft>
                <a:spcPts val="0"/>
              </a:spcAft>
              <a:buClr>
                <a:schemeClr val="dk1"/>
              </a:buClr>
              <a:buSzPts val="1100"/>
              <a:buChar char="●"/>
            </a:pPr>
            <a:r>
              <a:rPr lang="en-US" sz="1000">
                <a:solidFill>
                  <a:srgbClr val="3B3B3B"/>
                </a:solidFill>
                <a:latin typeface="Tahoma"/>
                <a:ea typeface="Tahoma"/>
                <a:cs typeface="Tahoma"/>
                <a:sym typeface="Tahoma"/>
              </a:rPr>
              <a:t>Hsing Hung et al. used knowledge distillation with Gramian matrix and KL-divergence, improving lightweight student accuracy on CIFAR-100 while significantly reducing model size and computational complexity.</a:t>
            </a:r>
            <a:endParaRPr sz="1000">
              <a:solidFill>
                <a:srgbClr val="3B3B3B"/>
              </a:solidFill>
              <a:latin typeface="Tahoma"/>
              <a:ea typeface="Tahoma"/>
              <a:cs typeface="Tahoma"/>
              <a:sym typeface="Tahoma"/>
            </a:endParaRPr>
          </a:p>
        </p:txBody>
      </p:sp>
      <p:sp>
        <p:nvSpPr>
          <p:cNvPr id="75" name="Google Shape;75;p4"/>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b118c12210_0_142"/>
          <p:cNvSpPr txBox="1"/>
          <p:nvPr>
            <p:ph type="ctrTitle"/>
          </p:nvPr>
        </p:nvSpPr>
        <p:spPr>
          <a:xfrm>
            <a:off x="131292" y="753463"/>
            <a:ext cx="3369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Background</a:t>
            </a:r>
            <a:endParaRPr/>
          </a:p>
        </p:txBody>
      </p:sp>
      <p:sp>
        <p:nvSpPr>
          <p:cNvPr id="81" name="Google Shape;81;g3b118c12210_0_142"/>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82" name="Google Shape;82;g3b118c12210_0_142"/>
          <p:cNvSpPr txBox="1"/>
          <p:nvPr/>
        </p:nvSpPr>
        <p:spPr>
          <a:xfrm>
            <a:off x="451951" y="1334900"/>
            <a:ext cx="3706200" cy="1656000"/>
          </a:xfrm>
          <a:prstGeom prst="rect">
            <a:avLst/>
          </a:prstGeom>
          <a:noFill/>
          <a:ln>
            <a:noFill/>
          </a:ln>
        </p:spPr>
        <p:txBody>
          <a:bodyPr anchorCtr="0" anchor="t" bIns="0" lIns="0" spcFirstLastPara="1" rIns="0" wrap="square" tIns="50150">
            <a:spAutoFit/>
          </a:bodyPr>
          <a:lstStyle/>
          <a:p>
            <a:pPr indent="-298450" lvl="0" marL="457200" rtl="0" algn="l">
              <a:lnSpc>
                <a:spcPct val="115000"/>
              </a:lnSpc>
              <a:spcBef>
                <a:spcPts val="1200"/>
              </a:spcBef>
              <a:spcAft>
                <a:spcPts val="0"/>
              </a:spcAft>
              <a:buClr>
                <a:schemeClr val="dk1"/>
              </a:buClr>
              <a:buSzPts val="1100"/>
              <a:buChar char="●"/>
            </a:pPr>
            <a:r>
              <a:rPr lang="en-US" sz="1000">
                <a:solidFill>
                  <a:srgbClr val="3B3B3B"/>
                </a:solidFill>
                <a:latin typeface="Tahoma"/>
                <a:ea typeface="Tahoma"/>
                <a:cs typeface="Tahoma"/>
                <a:sym typeface="Tahoma"/>
              </a:rPr>
              <a:t>Hyeonseok Hong et al. introduced feature distribution–based knowledge distillation using KL-divergence demonstrating notable accuracy improvements across multiple architectures on the CIFAR-100 benchmark.</a:t>
            </a:r>
            <a:endParaRPr sz="1000">
              <a:solidFill>
                <a:srgbClr val="3B3B3B"/>
              </a:solidFill>
              <a:latin typeface="Tahoma"/>
              <a:ea typeface="Tahoma"/>
              <a:cs typeface="Tahoma"/>
              <a:sym typeface="Tahoma"/>
            </a:endParaRPr>
          </a:p>
          <a:p>
            <a:pPr indent="-298450" lvl="0" marL="457200" rtl="0" algn="l">
              <a:lnSpc>
                <a:spcPct val="115000"/>
              </a:lnSpc>
              <a:spcBef>
                <a:spcPts val="0"/>
              </a:spcBef>
              <a:spcAft>
                <a:spcPts val="0"/>
              </a:spcAft>
              <a:buClr>
                <a:schemeClr val="dk1"/>
              </a:buClr>
              <a:buSzPts val="1100"/>
              <a:buChar char="●"/>
            </a:pPr>
            <a:r>
              <a:rPr lang="en-US" sz="1000">
                <a:solidFill>
                  <a:srgbClr val="3B3B3B"/>
                </a:solidFill>
                <a:latin typeface="Tahoma"/>
                <a:ea typeface="Tahoma"/>
                <a:cs typeface="Tahoma"/>
                <a:sym typeface="Tahoma"/>
              </a:rPr>
              <a:t>Gyeongdo Ham et al. proposed cosine similarity–based distillation with adaptive temperature scaling, enabling effective teacher–student alignment and achieving improved accuracy over baseline models on CIFAR-100</a:t>
            </a:r>
            <a:endParaRPr sz="1000">
              <a:solidFill>
                <a:srgbClr val="3B3B3B"/>
              </a:solidFill>
              <a:latin typeface="Tahoma"/>
              <a:ea typeface="Tahoma"/>
              <a:cs typeface="Tahoma"/>
              <a:sym typeface="Tahoma"/>
            </a:endParaRPr>
          </a:p>
        </p:txBody>
      </p:sp>
      <p:sp>
        <p:nvSpPr>
          <p:cNvPr id="83" name="Google Shape;83;g3b118c12210_0_142"/>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ctrTitle"/>
          </p:nvPr>
        </p:nvSpPr>
        <p:spPr>
          <a:xfrm>
            <a:off x="131292" y="753463"/>
            <a:ext cx="33699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Problem Statement</a:t>
            </a:r>
            <a:endParaRPr/>
          </a:p>
        </p:txBody>
      </p:sp>
      <p:sp>
        <p:nvSpPr>
          <p:cNvPr id="89" name="Google Shape;89;p5"/>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90" name="Google Shape;90;p5"/>
          <p:cNvSpPr txBox="1"/>
          <p:nvPr/>
        </p:nvSpPr>
        <p:spPr>
          <a:xfrm>
            <a:off x="455540" y="1469995"/>
            <a:ext cx="3699000" cy="1162800"/>
          </a:xfrm>
          <a:prstGeom prst="rect">
            <a:avLst/>
          </a:prstGeom>
          <a:noFill/>
          <a:ln>
            <a:noFill/>
          </a:ln>
        </p:spPr>
        <p:txBody>
          <a:bodyPr anchorCtr="0" anchor="t" bIns="0" lIns="0" spcFirstLastPara="1" rIns="0" wrap="square" tIns="50150">
            <a:spAutoFit/>
          </a:bodyPr>
          <a:lstStyle/>
          <a:p>
            <a:pPr indent="0" lvl="0" marL="12700" marR="5080" rtl="0" algn="l">
              <a:lnSpc>
                <a:spcPct val="124500"/>
              </a:lnSpc>
              <a:spcBef>
                <a:spcPts val="0"/>
              </a:spcBef>
              <a:spcAft>
                <a:spcPts val="0"/>
              </a:spcAft>
              <a:buNone/>
            </a:pPr>
            <a:r>
              <a:rPr lang="en-US" sz="1000">
                <a:solidFill>
                  <a:srgbClr val="3B3B3B"/>
                </a:solidFill>
                <a:latin typeface="Tahoma"/>
                <a:ea typeface="Tahoma"/>
                <a:cs typeface="Tahoma"/>
                <a:sym typeface="Tahoma"/>
              </a:rPr>
              <a:t>Obstructions in CCTV camera surveillance can render systems ineffective, and manual detection becomes impractical when monitoring a large number of cameras. This work proposes a camera obstruction detection system designed to run on low-resource devices, preserving data privacy by eliminating the need to transmit data to the cloud.</a:t>
            </a:r>
            <a:endParaRPr sz="1000">
              <a:latin typeface="Tahoma"/>
              <a:ea typeface="Tahoma"/>
              <a:cs typeface="Tahoma"/>
              <a:sym typeface="Tahoma"/>
            </a:endParaRPr>
          </a:p>
        </p:txBody>
      </p:sp>
      <p:sp>
        <p:nvSpPr>
          <p:cNvPr id="91" name="Google Shape;91;p5"/>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6"/>
          <p:cNvSpPr txBox="1"/>
          <p:nvPr>
            <p:ph type="ctrTitle"/>
          </p:nvPr>
        </p:nvSpPr>
        <p:spPr>
          <a:xfrm>
            <a:off x="131292" y="753463"/>
            <a:ext cx="33699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Objectives</a:t>
            </a:r>
            <a:endParaRPr/>
          </a:p>
        </p:txBody>
      </p:sp>
      <p:sp>
        <p:nvSpPr>
          <p:cNvPr id="97" name="Google Shape;97;p6"/>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98" name="Google Shape;98;p6"/>
          <p:cNvSpPr txBox="1"/>
          <p:nvPr/>
        </p:nvSpPr>
        <p:spPr>
          <a:xfrm>
            <a:off x="400508" y="1293525"/>
            <a:ext cx="3809100" cy="1128000"/>
          </a:xfrm>
          <a:prstGeom prst="rect">
            <a:avLst/>
          </a:prstGeom>
          <a:noFill/>
          <a:ln>
            <a:noFill/>
          </a:ln>
        </p:spPr>
        <p:txBody>
          <a:bodyPr anchorCtr="0" anchor="t" bIns="0" lIns="0" spcFirstLastPara="1" rIns="0" wrap="square" tIns="50150">
            <a:spAutoFit/>
          </a:bodyPr>
          <a:lstStyle/>
          <a:p>
            <a:pPr indent="-292100" lvl="0" marL="457200" rtl="0" algn="l">
              <a:lnSpc>
                <a:spcPct val="100000"/>
              </a:lnSpc>
              <a:spcBef>
                <a:spcPts val="290"/>
              </a:spcBef>
              <a:spcAft>
                <a:spcPts val="0"/>
              </a:spcAft>
              <a:buClr>
                <a:srgbClr val="3B3B3B"/>
              </a:buClr>
              <a:buSzPts val="1000"/>
              <a:buFont typeface="Tahoma"/>
              <a:buChar char="●"/>
            </a:pPr>
            <a:r>
              <a:rPr lang="en-US" sz="1000">
                <a:solidFill>
                  <a:srgbClr val="3B3B3B"/>
                </a:solidFill>
                <a:latin typeface="Tahoma"/>
                <a:ea typeface="Tahoma"/>
                <a:cs typeface="Tahoma"/>
                <a:sym typeface="Tahoma"/>
              </a:rPr>
              <a:t>Create an image dataset containing two classes: normal and blocked.</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Char char="●"/>
            </a:pPr>
            <a:r>
              <a:rPr lang="en-US" sz="1000">
                <a:solidFill>
                  <a:srgbClr val="3B3B3B"/>
                </a:solidFill>
                <a:latin typeface="Tahoma"/>
                <a:ea typeface="Tahoma"/>
                <a:cs typeface="Tahoma"/>
                <a:sym typeface="Tahoma"/>
              </a:rPr>
              <a:t>Develop lightweight models using knowledge distillation based on feature and KL-divergence losses.</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Char char="●"/>
            </a:pPr>
            <a:r>
              <a:rPr lang="en-US" sz="1000">
                <a:solidFill>
                  <a:srgbClr val="3B3B3B"/>
                </a:solidFill>
                <a:latin typeface="Tahoma"/>
                <a:ea typeface="Tahoma"/>
                <a:cs typeface="Tahoma"/>
                <a:sym typeface="Tahoma"/>
              </a:rPr>
              <a:t>Implement hyperparameter tuning to find optimal hyperparameters and compare results.</a:t>
            </a:r>
            <a:endParaRPr sz="1000">
              <a:solidFill>
                <a:srgbClr val="3B3B3B"/>
              </a:solidFill>
              <a:latin typeface="Tahoma"/>
              <a:ea typeface="Tahoma"/>
              <a:cs typeface="Tahoma"/>
              <a:sym typeface="Tahoma"/>
            </a:endParaRPr>
          </a:p>
          <a:p>
            <a:pPr indent="-292100" lvl="0" marL="457200" rtl="0" algn="l">
              <a:lnSpc>
                <a:spcPct val="100000"/>
              </a:lnSpc>
              <a:spcBef>
                <a:spcPts val="0"/>
              </a:spcBef>
              <a:spcAft>
                <a:spcPts val="0"/>
              </a:spcAft>
              <a:buClr>
                <a:srgbClr val="3B3B3B"/>
              </a:buClr>
              <a:buSzPts val="1000"/>
              <a:buFont typeface="Tahoma"/>
              <a:buChar char="●"/>
            </a:pPr>
            <a:r>
              <a:rPr lang="en-US" sz="1000">
                <a:solidFill>
                  <a:srgbClr val="3B3B3B"/>
                </a:solidFill>
                <a:latin typeface="Tahoma"/>
                <a:ea typeface="Tahoma"/>
                <a:cs typeface="Tahoma"/>
                <a:sym typeface="Tahoma"/>
              </a:rPr>
              <a:t>Test model inference time on edge devices</a:t>
            </a:r>
            <a:endParaRPr sz="1000">
              <a:solidFill>
                <a:srgbClr val="3B3B3B"/>
              </a:solidFill>
              <a:latin typeface="Tahoma"/>
              <a:ea typeface="Tahoma"/>
              <a:cs typeface="Tahoma"/>
              <a:sym typeface="Tahoma"/>
            </a:endParaRPr>
          </a:p>
        </p:txBody>
      </p:sp>
      <p:sp>
        <p:nvSpPr>
          <p:cNvPr id="99" name="Google Shape;99;p6"/>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
          <p:cNvSpPr txBox="1"/>
          <p:nvPr>
            <p:ph type="ctrTitle"/>
          </p:nvPr>
        </p:nvSpPr>
        <p:spPr>
          <a:xfrm>
            <a:off x="131301" y="753475"/>
            <a:ext cx="3711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05" name="Google Shape;105;p7"/>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06" name="Google Shape;106;p7"/>
          <p:cNvSpPr txBox="1"/>
          <p:nvPr>
            <p:ph idx="1" type="subTitle"/>
          </p:nvPr>
        </p:nvSpPr>
        <p:spPr>
          <a:xfrm>
            <a:off x="401549" y="1234346"/>
            <a:ext cx="3807000" cy="5124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Overall system architecture dataset creation, developing models, knowledge distillation, hyperparameter tuning and finally testing on edge devices</a:t>
            </a:r>
            <a:endParaRPr/>
          </a:p>
        </p:txBody>
      </p:sp>
      <p:sp>
        <p:nvSpPr>
          <p:cNvPr id="107" name="Google Shape;107;p7"/>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pic>
        <p:nvPicPr>
          <p:cNvPr id="108" name="Google Shape;108;p7" title="Screenshot 2025-12-18 at 3.03.23 PM.png"/>
          <p:cNvPicPr preferRelativeResize="0"/>
          <p:nvPr/>
        </p:nvPicPr>
        <p:blipFill>
          <a:blip r:embed="rId3">
            <a:alphaModFix/>
          </a:blip>
          <a:stretch>
            <a:fillRect/>
          </a:stretch>
        </p:blipFill>
        <p:spPr>
          <a:xfrm>
            <a:off x="292825" y="2030825"/>
            <a:ext cx="4024448" cy="402450"/>
          </a:xfrm>
          <a:prstGeom prst="rect">
            <a:avLst/>
          </a:prstGeom>
          <a:noFill/>
          <a:ln>
            <a:noFill/>
          </a:ln>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b118c12210_0_150"/>
          <p:cNvSpPr txBox="1"/>
          <p:nvPr>
            <p:ph type="ctrTitle"/>
          </p:nvPr>
        </p:nvSpPr>
        <p:spPr>
          <a:xfrm>
            <a:off x="131301" y="753475"/>
            <a:ext cx="3711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14" name="Google Shape;114;g3b118c12210_0_150"/>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15" name="Google Shape;115;g3b118c12210_0_150"/>
          <p:cNvSpPr txBox="1"/>
          <p:nvPr>
            <p:ph idx="1" type="subTitle"/>
          </p:nvPr>
        </p:nvSpPr>
        <p:spPr>
          <a:xfrm>
            <a:off x="401549" y="1234346"/>
            <a:ext cx="3807000" cy="14739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The dataset used here was created by the following methods</a:t>
            </a:r>
            <a:endParaRPr/>
          </a:p>
          <a:p>
            <a:pPr indent="-292100" lvl="0" marL="457200" rtl="0" algn="l">
              <a:lnSpc>
                <a:spcPct val="100000"/>
              </a:lnSpc>
              <a:spcBef>
                <a:spcPts val="295"/>
              </a:spcBef>
              <a:spcAft>
                <a:spcPts val="0"/>
              </a:spcAft>
              <a:buSzPts val="1000"/>
              <a:buChar char="●"/>
            </a:pPr>
            <a:r>
              <a:rPr lang="en-US"/>
              <a:t>Frames were extracted from the CCTV surveillance video dataset</a:t>
            </a:r>
            <a:endParaRPr/>
          </a:p>
          <a:p>
            <a:pPr indent="-292100" lvl="0" marL="457200" rtl="0" algn="l">
              <a:lnSpc>
                <a:spcPct val="100000"/>
              </a:lnSpc>
              <a:spcBef>
                <a:spcPts val="0"/>
              </a:spcBef>
              <a:spcAft>
                <a:spcPts val="0"/>
              </a:spcAft>
              <a:buSzPts val="1000"/>
              <a:buChar char="●"/>
            </a:pPr>
            <a:r>
              <a:rPr lang="en-US"/>
              <a:t>Some images were created manually by blocking the camera and clicking the pictures</a:t>
            </a:r>
            <a:endParaRPr/>
          </a:p>
          <a:p>
            <a:pPr indent="-292100" lvl="0" marL="457200" rtl="0" algn="l">
              <a:lnSpc>
                <a:spcPct val="100000"/>
              </a:lnSpc>
              <a:spcBef>
                <a:spcPts val="0"/>
              </a:spcBef>
              <a:spcAft>
                <a:spcPts val="0"/>
              </a:spcAft>
              <a:buSzPts val="1000"/>
              <a:buChar char="●"/>
            </a:pPr>
            <a:r>
              <a:rPr lang="en-US"/>
              <a:t>Blocking by the hand was also stimulated by taking images from the 11K hands dataset</a:t>
            </a:r>
            <a:endParaRPr/>
          </a:p>
          <a:p>
            <a:pPr indent="-292100" lvl="0" marL="457200" rtl="0" algn="l">
              <a:lnSpc>
                <a:spcPct val="100000"/>
              </a:lnSpc>
              <a:spcBef>
                <a:spcPts val="0"/>
              </a:spcBef>
              <a:spcAft>
                <a:spcPts val="0"/>
              </a:spcAft>
              <a:buSzPts val="1000"/>
              <a:buChar char="●"/>
            </a:pPr>
            <a:r>
              <a:rPr lang="en-US"/>
              <a:t>Blocked images were also created using the diffusion models with appropriate prompts</a:t>
            </a:r>
            <a:endParaRPr/>
          </a:p>
        </p:txBody>
      </p:sp>
      <p:sp>
        <p:nvSpPr>
          <p:cNvPr id="116" name="Google Shape;116;g3b118c12210_0_150"/>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b118c12210_0_76"/>
          <p:cNvSpPr txBox="1"/>
          <p:nvPr>
            <p:ph type="ctrTitle"/>
          </p:nvPr>
        </p:nvSpPr>
        <p:spPr>
          <a:xfrm>
            <a:off x="131301" y="753475"/>
            <a:ext cx="3948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22" name="Google Shape;122;g3b118c12210_0_76"/>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23" name="Google Shape;123;g3b118c12210_0_76"/>
          <p:cNvSpPr txBox="1"/>
          <p:nvPr>
            <p:ph idx="1" type="subTitle"/>
          </p:nvPr>
        </p:nvSpPr>
        <p:spPr>
          <a:xfrm>
            <a:off x="401549" y="1234346"/>
            <a:ext cx="3807000" cy="2046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Some samples of the images in the dataset</a:t>
            </a:r>
            <a:endParaRPr/>
          </a:p>
        </p:txBody>
      </p:sp>
      <p:pic>
        <p:nvPicPr>
          <p:cNvPr id="124" name="Google Shape;124;g3b118c12210_0_76" title="Screenshot 2025-12-17 at 3.20.01 AM.png"/>
          <p:cNvPicPr preferRelativeResize="0"/>
          <p:nvPr/>
        </p:nvPicPr>
        <p:blipFill rotWithShape="1">
          <a:blip r:embed="rId3">
            <a:alphaModFix/>
          </a:blip>
          <a:srcRect b="51357" l="0" r="0" t="0"/>
          <a:stretch/>
        </p:blipFill>
        <p:spPr>
          <a:xfrm>
            <a:off x="437000" y="1728475"/>
            <a:ext cx="1879049" cy="1019286"/>
          </a:xfrm>
          <a:prstGeom prst="rect">
            <a:avLst/>
          </a:prstGeom>
          <a:noFill/>
          <a:ln>
            <a:noFill/>
          </a:ln>
        </p:spPr>
      </p:pic>
      <p:pic>
        <p:nvPicPr>
          <p:cNvPr id="125" name="Google Shape;125;g3b118c12210_0_76" title="Screenshot 2025-12-17 at 3.20.01 AM.png"/>
          <p:cNvPicPr preferRelativeResize="0"/>
          <p:nvPr/>
        </p:nvPicPr>
        <p:blipFill rotWithShape="1">
          <a:blip r:embed="rId3">
            <a:alphaModFix/>
          </a:blip>
          <a:srcRect b="0" l="0" r="0" t="51357"/>
          <a:stretch/>
        </p:blipFill>
        <p:spPr>
          <a:xfrm>
            <a:off x="2489475" y="1728462"/>
            <a:ext cx="1879049" cy="1019301"/>
          </a:xfrm>
          <a:prstGeom prst="rect">
            <a:avLst/>
          </a:prstGeom>
          <a:noFill/>
          <a:ln>
            <a:noFill/>
          </a:ln>
        </p:spPr>
      </p:pic>
      <p:sp>
        <p:nvSpPr>
          <p:cNvPr id="126" name="Google Shape;126;g3b118c12210_0_76"/>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b118c12210_0_68"/>
          <p:cNvSpPr txBox="1"/>
          <p:nvPr>
            <p:ph type="ctrTitle"/>
          </p:nvPr>
        </p:nvSpPr>
        <p:spPr>
          <a:xfrm>
            <a:off x="131301" y="753475"/>
            <a:ext cx="39555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32" name="Google Shape;132;g3b118c12210_0_68"/>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33" name="Google Shape;133;g3b118c12210_0_68"/>
          <p:cNvSpPr txBox="1"/>
          <p:nvPr>
            <p:ph idx="1" type="subTitle"/>
          </p:nvPr>
        </p:nvSpPr>
        <p:spPr>
          <a:xfrm>
            <a:off x="401549" y="1234346"/>
            <a:ext cx="3807000" cy="3585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Two models, teacher and student models were designed with the following model architectures.</a:t>
            </a:r>
            <a:endParaRPr/>
          </a:p>
        </p:txBody>
      </p:sp>
      <p:pic>
        <p:nvPicPr>
          <p:cNvPr id="134" name="Google Shape;134;g3b118c12210_0_68" title="Screenshot 2025-12-17 at 2.58.19 AM.png"/>
          <p:cNvPicPr preferRelativeResize="0"/>
          <p:nvPr/>
        </p:nvPicPr>
        <p:blipFill rotWithShape="1">
          <a:blip r:embed="rId3">
            <a:alphaModFix/>
          </a:blip>
          <a:srcRect b="19878" l="0" r="0" t="0"/>
          <a:stretch/>
        </p:blipFill>
        <p:spPr>
          <a:xfrm>
            <a:off x="559188" y="1778775"/>
            <a:ext cx="3491725" cy="1315324"/>
          </a:xfrm>
          <a:prstGeom prst="rect">
            <a:avLst/>
          </a:prstGeom>
          <a:noFill/>
          <a:ln>
            <a:noFill/>
          </a:ln>
        </p:spPr>
      </p:pic>
      <p:sp>
        <p:nvSpPr>
          <p:cNvPr id="135" name="Google Shape;135;g3b118c12210_0_68"/>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b118c12210_0_34"/>
          <p:cNvSpPr txBox="1"/>
          <p:nvPr>
            <p:ph type="ctrTitle"/>
          </p:nvPr>
        </p:nvSpPr>
        <p:spPr>
          <a:xfrm>
            <a:off x="131301" y="753475"/>
            <a:ext cx="38070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41" name="Google Shape;141;g3b118c12210_0_34"/>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42" name="Google Shape;142;g3b118c12210_0_34"/>
          <p:cNvSpPr txBox="1"/>
          <p:nvPr>
            <p:ph idx="1" type="subTitle"/>
          </p:nvPr>
        </p:nvSpPr>
        <p:spPr>
          <a:xfrm>
            <a:off x="401550" y="1234349"/>
            <a:ext cx="3807000" cy="5124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The KL divergence based knowledge distillation was done on these proposed models.  The KL </a:t>
            </a:r>
            <a:r>
              <a:rPr lang="en-US"/>
              <a:t>divergence</a:t>
            </a:r>
            <a:r>
              <a:rPr lang="en-US"/>
              <a:t> loss was found out and added to the cross entropy loss function.</a:t>
            </a:r>
            <a:endParaRPr/>
          </a:p>
        </p:txBody>
      </p:sp>
      <p:pic>
        <p:nvPicPr>
          <p:cNvPr id="143" name="Google Shape;143;g3b118c12210_0_34" title="Screenshot 2025-12-17 at 3.03.12 AM.png"/>
          <p:cNvPicPr preferRelativeResize="0"/>
          <p:nvPr/>
        </p:nvPicPr>
        <p:blipFill>
          <a:blip r:embed="rId3">
            <a:alphaModFix/>
          </a:blip>
          <a:stretch>
            <a:fillRect/>
          </a:stretch>
        </p:blipFill>
        <p:spPr>
          <a:xfrm>
            <a:off x="1290925" y="1783825"/>
            <a:ext cx="1723787" cy="381600"/>
          </a:xfrm>
          <a:prstGeom prst="rect">
            <a:avLst/>
          </a:prstGeom>
          <a:noFill/>
          <a:ln>
            <a:noFill/>
          </a:ln>
        </p:spPr>
      </p:pic>
      <p:pic>
        <p:nvPicPr>
          <p:cNvPr id="144" name="Google Shape;144;g3b118c12210_0_34" title="Screenshot 2025-12-17 at 3.03.40 AM.png"/>
          <p:cNvPicPr preferRelativeResize="0"/>
          <p:nvPr/>
        </p:nvPicPr>
        <p:blipFill>
          <a:blip r:embed="rId4">
            <a:alphaModFix/>
          </a:blip>
          <a:stretch>
            <a:fillRect/>
          </a:stretch>
        </p:blipFill>
        <p:spPr>
          <a:xfrm>
            <a:off x="856487" y="2237275"/>
            <a:ext cx="2897125" cy="324972"/>
          </a:xfrm>
          <a:prstGeom prst="rect">
            <a:avLst/>
          </a:prstGeom>
          <a:noFill/>
          <a:ln>
            <a:noFill/>
          </a:ln>
        </p:spPr>
      </p:pic>
      <p:pic>
        <p:nvPicPr>
          <p:cNvPr id="145" name="Google Shape;145;g3b118c12210_0_34" title="Screenshot 2025-12-17 at 3.13.14 AM.png"/>
          <p:cNvPicPr preferRelativeResize="0"/>
          <p:nvPr/>
        </p:nvPicPr>
        <p:blipFill>
          <a:blip r:embed="rId5">
            <a:alphaModFix/>
          </a:blip>
          <a:stretch>
            <a:fillRect/>
          </a:stretch>
        </p:blipFill>
        <p:spPr>
          <a:xfrm>
            <a:off x="1387413" y="2708199"/>
            <a:ext cx="1835275" cy="277025"/>
          </a:xfrm>
          <a:prstGeom prst="rect">
            <a:avLst/>
          </a:prstGeom>
          <a:noFill/>
          <a:ln>
            <a:noFill/>
          </a:ln>
        </p:spPr>
      </p:pic>
      <p:sp>
        <p:nvSpPr>
          <p:cNvPr id="146" name="Google Shape;146;g3b118c12210_0_34"/>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b118c12210_0_26"/>
          <p:cNvSpPr txBox="1"/>
          <p:nvPr>
            <p:ph type="ctrTitle"/>
          </p:nvPr>
        </p:nvSpPr>
        <p:spPr>
          <a:xfrm>
            <a:off x="131301" y="753475"/>
            <a:ext cx="37302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52" name="Google Shape;152;g3b118c12210_0_26"/>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53" name="Google Shape;153;g3b118c12210_0_26"/>
          <p:cNvSpPr txBox="1"/>
          <p:nvPr>
            <p:ph idx="1" type="subTitle"/>
          </p:nvPr>
        </p:nvSpPr>
        <p:spPr>
          <a:xfrm>
            <a:off x="401549" y="1234346"/>
            <a:ext cx="3807000" cy="3585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In Order</a:t>
            </a:r>
            <a:r>
              <a:rPr lang="en-US"/>
              <a:t> to implement feature based knowledge distillation the models were altered to give identical intermediate feature outputs.</a:t>
            </a:r>
            <a:endParaRPr/>
          </a:p>
        </p:txBody>
      </p:sp>
      <p:pic>
        <p:nvPicPr>
          <p:cNvPr id="154" name="Google Shape;154;g3b118c12210_0_26" title="Screenshot 2025-12-17 at 3.06.11 AM.png"/>
          <p:cNvPicPr preferRelativeResize="0"/>
          <p:nvPr/>
        </p:nvPicPr>
        <p:blipFill>
          <a:blip r:embed="rId3">
            <a:alphaModFix/>
          </a:blip>
          <a:stretch>
            <a:fillRect/>
          </a:stretch>
        </p:blipFill>
        <p:spPr>
          <a:xfrm>
            <a:off x="564038" y="1745249"/>
            <a:ext cx="3482025" cy="1246400"/>
          </a:xfrm>
          <a:prstGeom prst="rect">
            <a:avLst/>
          </a:prstGeom>
          <a:noFill/>
          <a:ln>
            <a:noFill/>
          </a:ln>
        </p:spPr>
      </p:pic>
      <p:sp>
        <p:nvSpPr>
          <p:cNvPr id="155" name="Google Shape;155;g3b118c12210_0_26"/>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b118c12210_0_45"/>
          <p:cNvSpPr txBox="1"/>
          <p:nvPr>
            <p:ph type="ctrTitle"/>
          </p:nvPr>
        </p:nvSpPr>
        <p:spPr>
          <a:xfrm>
            <a:off x="131301" y="753475"/>
            <a:ext cx="3768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61" name="Google Shape;161;g3b118c12210_0_45"/>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62" name="Google Shape;162;g3b118c12210_0_45"/>
          <p:cNvSpPr txBox="1"/>
          <p:nvPr>
            <p:ph idx="1" type="subTitle"/>
          </p:nvPr>
        </p:nvSpPr>
        <p:spPr>
          <a:xfrm>
            <a:off x="401549" y="1234346"/>
            <a:ext cx="3807000" cy="5124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Three types of loss functions, MSE, Cosine Similarity and Combined which is combination of both them, were used to implement feature based knowledge distillation</a:t>
            </a:r>
            <a:endParaRPr/>
          </a:p>
        </p:txBody>
      </p:sp>
      <p:pic>
        <p:nvPicPr>
          <p:cNvPr id="163" name="Google Shape;163;g3b118c12210_0_45" title="Screenshot 2025-12-17 at 3.09.35 AM.png"/>
          <p:cNvPicPr preferRelativeResize="0"/>
          <p:nvPr/>
        </p:nvPicPr>
        <p:blipFill rotWithShape="1">
          <a:blip r:embed="rId3">
            <a:alphaModFix/>
          </a:blip>
          <a:srcRect b="62518" l="0" r="0" t="0"/>
          <a:stretch/>
        </p:blipFill>
        <p:spPr>
          <a:xfrm>
            <a:off x="1487025" y="1794550"/>
            <a:ext cx="1636050" cy="286475"/>
          </a:xfrm>
          <a:prstGeom prst="rect">
            <a:avLst/>
          </a:prstGeom>
          <a:noFill/>
          <a:ln>
            <a:noFill/>
          </a:ln>
        </p:spPr>
      </p:pic>
      <p:pic>
        <p:nvPicPr>
          <p:cNvPr id="164" name="Google Shape;164;g3b118c12210_0_45" title="Screenshot 2025-12-17 at 3.10.04 AM.png"/>
          <p:cNvPicPr preferRelativeResize="0"/>
          <p:nvPr/>
        </p:nvPicPr>
        <p:blipFill>
          <a:blip r:embed="rId4">
            <a:alphaModFix/>
          </a:blip>
          <a:stretch>
            <a:fillRect/>
          </a:stretch>
        </p:blipFill>
        <p:spPr>
          <a:xfrm>
            <a:off x="927475" y="2516575"/>
            <a:ext cx="2755151" cy="225925"/>
          </a:xfrm>
          <a:prstGeom prst="rect">
            <a:avLst/>
          </a:prstGeom>
          <a:noFill/>
          <a:ln>
            <a:noFill/>
          </a:ln>
        </p:spPr>
      </p:pic>
      <p:sp>
        <p:nvSpPr>
          <p:cNvPr id="165" name="Google Shape;165;g3b118c12210_0_45"/>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pic>
        <p:nvPicPr>
          <p:cNvPr id="166" name="Google Shape;166;g3b118c12210_0_45" title="Screenshot 2025-12-17 at 3.11.22 AM.png"/>
          <p:cNvPicPr preferRelativeResize="0"/>
          <p:nvPr/>
        </p:nvPicPr>
        <p:blipFill>
          <a:blip r:embed="rId5">
            <a:alphaModFix/>
          </a:blip>
          <a:stretch>
            <a:fillRect/>
          </a:stretch>
        </p:blipFill>
        <p:spPr>
          <a:xfrm>
            <a:off x="1394625" y="2807000"/>
            <a:ext cx="1820850" cy="286475"/>
          </a:xfrm>
          <a:prstGeom prst="rect">
            <a:avLst/>
          </a:prstGeom>
          <a:noFill/>
          <a:ln>
            <a:noFill/>
          </a:ln>
        </p:spPr>
      </p:pic>
      <p:pic>
        <p:nvPicPr>
          <p:cNvPr id="167" name="Google Shape;167;g3b118c12210_0_45" title="Screenshot 2025-12-17 at 3.09.35 AM.png"/>
          <p:cNvPicPr preferRelativeResize="0"/>
          <p:nvPr/>
        </p:nvPicPr>
        <p:blipFill rotWithShape="1">
          <a:blip r:embed="rId3">
            <a:alphaModFix/>
          </a:blip>
          <a:srcRect b="0" l="0" r="0" t="48752"/>
          <a:stretch/>
        </p:blipFill>
        <p:spPr>
          <a:xfrm>
            <a:off x="1487025" y="2081031"/>
            <a:ext cx="1636050" cy="391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b118c12210_0_113"/>
          <p:cNvSpPr txBox="1"/>
          <p:nvPr>
            <p:ph type="ctrTitle"/>
          </p:nvPr>
        </p:nvSpPr>
        <p:spPr>
          <a:xfrm>
            <a:off x="131301" y="753475"/>
            <a:ext cx="37302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73" name="Google Shape;173;g3b118c12210_0_113"/>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74" name="Google Shape;174;g3b118c12210_0_113"/>
          <p:cNvSpPr txBox="1"/>
          <p:nvPr>
            <p:ph idx="1" type="subTitle"/>
          </p:nvPr>
        </p:nvSpPr>
        <p:spPr>
          <a:xfrm>
            <a:off x="401549" y="1234346"/>
            <a:ext cx="3807000" cy="358500"/>
          </a:xfrm>
          <a:prstGeom prst="rect">
            <a:avLst/>
          </a:prstGeom>
          <a:noFill/>
          <a:ln>
            <a:noFill/>
          </a:ln>
        </p:spPr>
        <p:txBody>
          <a:bodyPr anchorCtr="0" anchor="t" bIns="0" lIns="0" spcFirstLastPara="1" rIns="0" wrap="square" tIns="50150">
            <a:spAutoFit/>
          </a:bodyPr>
          <a:lstStyle/>
          <a:p>
            <a:pPr indent="0" lvl="0" marL="0" rtl="0" algn="l">
              <a:lnSpc>
                <a:spcPct val="100000"/>
              </a:lnSpc>
              <a:spcBef>
                <a:spcPts val="295"/>
              </a:spcBef>
              <a:spcAft>
                <a:spcPts val="0"/>
              </a:spcAft>
              <a:buNone/>
            </a:pPr>
            <a:r>
              <a:rPr lang="en-US"/>
              <a:t>Comparison of number of parameters in the student and teacher model</a:t>
            </a:r>
            <a:endParaRPr/>
          </a:p>
        </p:txBody>
      </p:sp>
      <p:sp>
        <p:nvSpPr>
          <p:cNvPr id="175" name="Google Shape;175;g3b118c12210_0_113"/>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pic>
        <p:nvPicPr>
          <p:cNvPr id="176" name="Google Shape;176;g3b118c12210_0_113" title="Screenshot 2025-12-18 at 1.57.38 PM.png"/>
          <p:cNvPicPr preferRelativeResize="0"/>
          <p:nvPr/>
        </p:nvPicPr>
        <p:blipFill>
          <a:blip r:embed="rId3">
            <a:alphaModFix/>
          </a:blip>
          <a:stretch>
            <a:fillRect/>
          </a:stretch>
        </p:blipFill>
        <p:spPr>
          <a:xfrm>
            <a:off x="689150" y="1709500"/>
            <a:ext cx="3231801" cy="1275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b118c12210_0_122"/>
          <p:cNvSpPr txBox="1"/>
          <p:nvPr>
            <p:ph type="ctrTitle"/>
          </p:nvPr>
        </p:nvSpPr>
        <p:spPr>
          <a:xfrm>
            <a:off x="131301" y="753475"/>
            <a:ext cx="3768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System Architecture/Mathematical Formulation</a:t>
            </a:r>
            <a:endParaRPr/>
          </a:p>
        </p:txBody>
      </p:sp>
      <p:sp>
        <p:nvSpPr>
          <p:cNvPr id="182" name="Google Shape;182;g3b118c12210_0_122"/>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83" name="Google Shape;183;g3b118c12210_0_122"/>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
        <p:nvSpPr>
          <p:cNvPr id="184" name="Google Shape;184;g3b118c12210_0_122"/>
          <p:cNvSpPr txBox="1"/>
          <p:nvPr>
            <p:ph idx="1" type="subTitle"/>
          </p:nvPr>
        </p:nvSpPr>
        <p:spPr>
          <a:xfrm>
            <a:off x="401549" y="1397221"/>
            <a:ext cx="3807000" cy="1436100"/>
          </a:xfrm>
          <a:prstGeom prst="rect">
            <a:avLst/>
          </a:prstGeom>
          <a:noFill/>
          <a:ln>
            <a:noFill/>
          </a:ln>
        </p:spPr>
        <p:txBody>
          <a:bodyPr anchorCtr="0" anchor="t" bIns="0" lIns="0" spcFirstLastPara="1" rIns="0" wrap="square" tIns="50150">
            <a:spAutoFit/>
          </a:bodyPr>
          <a:lstStyle/>
          <a:p>
            <a:pPr indent="-292100" lvl="0" marL="457200" rtl="0" algn="l">
              <a:lnSpc>
                <a:spcPct val="100000"/>
              </a:lnSpc>
              <a:spcBef>
                <a:spcPts val="295"/>
              </a:spcBef>
              <a:spcAft>
                <a:spcPts val="0"/>
              </a:spcAft>
              <a:buSzPts val="1000"/>
              <a:buChar char="●"/>
            </a:pPr>
            <a:r>
              <a:rPr lang="en-US"/>
              <a:t>The KL divergence model has 2 hyperparameters which are T and alpha while the feature based models have one that is alpha except for the combined model which has an additional hyperparameter beta.</a:t>
            </a:r>
            <a:endParaRPr/>
          </a:p>
          <a:p>
            <a:pPr indent="-292100" lvl="0" marL="457200" rtl="0" algn="l">
              <a:lnSpc>
                <a:spcPct val="100000"/>
              </a:lnSpc>
              <a:spcBef>
                <a:spcPts val="0"/>
              </a:spcBef>
              <a:spcAft>
                <a:spcPts val="0"/>
              </a:spcAft>
              <a:buSzPts val="1000"/>
              <a:buChar char="●"/>
            </a:pPr>
            <a:r>
              <a:rPr lang="en-US"/>
              <a:t>Further we tested on multiple different combinations of these hyperparameters using cross validation and found out the best performing combination.</a:t>
            </a:r>
            <a:endParaRPr/>
          </a:p>
          <a:p>
            <a:pPr indent="-292100" lvl="0" marL="457200" rtl="0" algn="l">
              <a:lnSpc>
                <a:spcPct val="100000"/>
              </a:lnSpc>
              <a:spcBef>
                <a:spcPts val="0"/>
              </a:spcBef>
              <a:spcAft>
                <a:spcPts val="0"/>
              </a:spcAft>
              <a:buSzPts val="1000"/>
              <a:buChar char="●"/>
            </a:pPr>
            <a:r>
              <a:rPr lang="en-US"/>
              <a:t>Then for testing on edge devices we converted the model to onnx format and ran it on the raspberry pi.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131292" y="753463"/>
            <a:ext cx="20110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Key Results</a:t>
            </a:r>
            <a:endParaRPr/>
          </a:p>
        </p:txBody>
      </p:sp>
      <p:sp>
        <p:nvSpPr>
          <p:cNvPr id="190" name="Google Shape;190;p8"/>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191" name="Google Shape;191;p8"/>
          <p:cNvSpPr txBox="1"/>
          <p:nvPr/>
        </p:nvSpPr>
        <p:spPr>
          <a:xfrm>
            <a:off x="379790" y="2839002"/>
            <a:ext cx="3850500" cy="166800"/>
          </a:xfrm>
          <a:prstGeom prst="rect">
            <a:avLst/>
          </a:prstGeom>
          <a:noFill/>
          <a:ln>
            <a:noFill/>
          </a:ln>
        </p:spPr>
        <p:txBody>
          <a:bodyPr anchorCtr="0" anchor="t" bIns="0" lIns="0" spcFirstLastPara="1" rIns="0" wrap="square" tIns="12700">
            <a:spAutoFit/>
          </a:bodyPr>
          <a:lstStyle/>
          <a:p>
            <a:pPr indent="0" lvl="0" marL="12700" marR="5080" rtl="0" algn="l">
              <a:lnSpc>
                <a:spcPct val="124500"/>
              </a:lnSpc>
              <a:spcBef>
                <a:spcPts val="0"/>
              </a:spcBef>
              <a:spcAft>
                <a:spcPts val="0"/>
              </a:spcAft>
              <a:buNone/>
            </a:pPr>
            <a:r>
              <a:rPr lang="en-US" sz="1000">
                <a:solidFill>
                  <a:srgbClr val="3B3B3B"/>
                </a:solidFill>
                <a:latin typeface="Tahoma"/>
                <a:ea typeface="Tahoma"/>
                <a:cs typeface="Tahoma"/>
                <a:sym typeface="Tahoma"/>
              </a:rPr>
              <a:t>Box plot showing accuracy values for all 10 runs of cross validation</a:t>
            </a:r>
            <a:endParaRPr sz="1000">
              <a:solidFill>
                <a:srgbClr val="3B3B3B"/>
              </a:solidFill>
              <a:latin typeface="Tahoma"/>
              <a:ea typeface="Tahoma"/>
              <a:cs typeface="Tahoma"/>
              <a:sym typeface="Tahoma"/>
            </a:endParaRPr>
          </a:p>
        </p:txBody>
      </p:sp>
      <p:pic>
        <p:nvPicPr>
          <p:cNvPr id="192" name="Google Shape;192;p8" title="Screenshot 2025-12-17 at 12.11.00 AM.png"/>
          <p:cNvPicPr preferRelativeResize="0"/>
          <p:nvPr/>
        </p:nvPicPr>
        <p:blipFill>
          <a:blip r:embed="rId3">
            <a:alphaModFix/>
          </a:blip>
          <a:stretch>
            <a:fillRect/>
          </a:stretch>
        </p:blipFill>
        <p:spPr>
          <a:xfrm>
            <a:off x="567150" y="1172522"/>
            <a:ext cx="3475799" cy="1666475"/>
          </a:xfrm>
          <a:prstGeom prst="rect">
            <a:avLst/>
          </a:prstGeom>
          <a:noFill/>
          <a:ln>
            <a:noFill/>
          </a:ln>
        </p:spPr>
      </p:pic>
      <p:sp>
        <p:nvSpPr>
          <p:cNvPr id="193" name="Google Shape;193;p8"/>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b118c12210_0_1"/>
          <p:cNvSpPr txBox="1"/>
          <p:nvPr>
            <p:ph type="title"/>
          </p:nvPr>
        </p:nvSpPr>
        <p:spPr>
          <a:xfrm>
            <a:off x="131292" y="753463"/>
            <a:ext cx="2010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Key Results</a:t>
            </a:r>
            <a:endParaRPr/>
          </a:p>
        </p:txBody>
      </p:sp>
      <p:sp>
        <p:nvSpPr>
          <p:cNvPr id="199" name="Google Shape;199;g3b118c12210_0_1"/>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
        <p:nvSpPr>
          <p:cNvPr id="200" name="Google Shape;200;g3b118c12210_0_1"/>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201" name="Google Shape;201;g3b118c12210_0_1"/>
          <p:cNvSpPr txBox="1"/>
          <p:nvPr/>
        </p:nvSpPr>
        <p:spPr>
          <a:xfrm>
            <a:off x="379790" y="2839002"/>
            <a:ext cx="3850500" cy="358500"/>
          </a:xfrm>
          <a:prstGeom prst="rect">
            <a:avLst/>
          </a:prstGeom>
          <a:noFill/>
          <a:ln>
            <a:noFill/>
          </a:ln>
        </p:spPr>
        <p:txBody>
          <a:bodyPr anchorCtr="0" anchor="t" bIns="0" lIns="0" spcFirstLastPara="1" rIns="0" wrap="square" tIns="12700">
            <a:spAutoFit/>
          </a:bodyPr>
          <a:lstStyle/>
          <a:p>
            <a:pPr indent="0" lvl="0" marL="12700" marR="5080" rtl="0" algn="l">
              <a:lnSpc>
                <a:spcPct val="124500"/>
              </a:lnSpc>
              <a:spcBef>
                <a:spcPts val="0"/>
              </a:spcBef>
              <a:spcAft>
                <a:spcPts val="0"/>
              </a:spcAft>
              <a:buNone/>
            </a:pPr>
            <a:r>
              <a:rPr lang="en-US" sz="1000">
                <a:solidFill>
                  <a:srgbClr val="3B3B3B"/>
                </a:solidFill>
                <a:latin typeface="Tahoma"/>
                <a:ea typeface="Tahoma"/>
                <a:cs typeface="Tahoma"/>
                <a:sym typeface="Tahoma"/>
              </a:rPr>
              <a:t>Tables showing best hyper parameter values and the average accuracies of all the models</a:t>
            </a:r>
            <a:endParaRPr sz="1000">
              <a:solidFill>
                <a:srgbClr val="3B3B3B"/>
              </a:solidFill>
              <a:latin typeface="Tahoma"/>
              <a:ea typeface="Tahoma"/>
              <a:cs typeface="Tahoma"/>
              <a:sym typeface="Tahoma"/>
            </a:endParaRPr>
          </a:p>
        </p:txBody>
      </p:sp>
      <p:pic>
        <p:nvPicPr>
          <p:cNvPr id="202" name="Google Shape;202;g3b118c12210_0_1" title="Screenshot 2025-12-17 at 12.21.48 AM.png"/>
          <p:cNvPicPr preferRelativeResize="0"/>
          <p:nvPr/>
        </p:nvPicPr>
        <p:blipFill>
          <a:blip r:embed="rId3">
            <a:alphaModFix/>
          </a:blip>
          <a:stretch>
            <a:fillRect/>
          </a:stretch>
        </p:blipFill>
        <p:spPr>
          <a:xfrm>
            <a:off x="379800" y="1534425"/>
            <a:ext cx="2051765" cy="970425"/>
          </a:xfrm>
          <a:prstGeom prst="rect">
            <a:avLst/>
          </a:prstGeom>
          <a:noFill/>
          <a:ln>
            <a:noFill/>
          </a:ln>
        </p:spPr>
      </p:pic>
      <p:pic>
        <p:nvPicPr>
          <p:cNvPr id="203" name="Google Shape;203;g3b118c12210_0_1"/>
          <p:cNvPicPr preferRelativeResize="0"/>
          <p:nvPr/>
        </p:nvPicPr>
        <p:blipFill>
          <a:blip r:embed="rId4">
            <a:alphaModFix/>
          </a:blip>
          <a:stretch>
            <a:fillRect/>
          </a:stretch>
        </p:blipFill>
        <p:spPr>
          <a:xfrm>
            <a:off x="2486625" y="1437888"/>
            <a:ext cx="1884750" cy="1163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b118c12210_0_9"/>
          <p:cNvSpPr txBox="1"/>
          <p:nvPr>
            <p:ph type="title"/>
          </p:nvPr>
        </p:nvSpPr>
        <p:spPr>
          <a:xfrm>
            <a:off x="131292" y="753463"/>
            <a:ext cx="2010900" cy="196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Key Results</a:t>
            </a:r>
            <a:endParaRPr/>
          </a:p>
        </p:txBody>
      </p:sp>
      <p:sp>
        <p:nvSpPr>
          <p:cNvPr id="209" name="Google Shape;209;g3b118c12210_0_9"/>
          <p:cNvSpPr txBox="1"/>
          <p:nvPr>
            <p:ph idx="11" type="ftr"/>
          </p:nvPr>
        </p:nvSpPr>
        <p:spPr>
          <a:xfrm>
            <a:off x="4287317" y="3341157"/>
            <a:ext cx="333300" cy="77100"/>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210" name="Google Shape;210;g3b118c12210_0_9"/>
          <p:cNvSpPr txBox="1"/>
          <p:nvPr/>
        </p:nvSpPr>
        <p:spPr>
          <a:xfrm>
            <a:off x="547049" y="2813275"/>
            <a:ext cx="3499200" cy="358500"/>
          </a:xfrm>
          <a:prstGeom prst="rect">
            <a:avLst/>
          </a:prstGeom>
          <a:noFill/>
          <a:ln>
            <a:noFill/>
          </a:ln>
        </p:spPr>
        <p:txBody>
          <a:bodyPr anchorCtr="0" anchor="t" bIns="0" lIns="0" spcFirstLastPara="1" rIns="0" wrap="square" tIns="12700">
            <a:spAutoFit/>
          </a:bodyPr>
          <a:lstStyle/>
          <a:p>
            <a:pPr indent="0" lvl="0" marL="12700" marR="5080" rtl="0" algn="l">
              <a:lnSpc>
                <a:spcPct val="124500"/>
              </a:lnSpc>
              <a:spcBef>
                <a:spcPts val="0"/>
              </a:spcBef>
              <a:spcAft>
                <a:spcPts val="0"/>
              </a:spcAft>
              <a:buNone/>
            </a:pPr>
            <a:r>
              <a:rPr lang="en-US" sz="1000">
                <a:solidFill>
                  <a:srgbClr val="3B3B3B"/>
                </a:solidFill>
                <a:latin typeface="Tahoma"/>
                <a:ea typeface="Tahoma"/>
                <a:cs typeface="Tahoma"/>
                <a:sym typeface="Tahoma"/>
              </a:rPr>
              <a:t>Table showing inference time comparisons of the teacher and student model</a:t>
            </a:r>
            <a:endParaRPr sz="1000">
              <a:solidFill>
                <a:srgbClr val="3B3B3B"/>
              </a:solidFill>
              <a:latin typeface="Tahoma"/>
              <a:ea typeface="Tahoma"/>
              <a:cs typeface="Tahoma"/>
              <a:sym typeface="Tahoma"/>
            </a:endParaRPr>
          </a:p>
        </p:txBody>
      </p:sp>
      <p:pic>
        <p:nvPicPr>
          <p:cNvPr id="211" name="Google Shape;211;g3b118c12210_0_9" title="Screenshot 2025-12-17 at 12.18.35 AM.png"/>
          <p:cNvPicPr preferRelativeResize="0"/>
          <p:nvPr/>
        </p:nvPicPr>
        <p:blipFill>
          <a:blip r:embed="rId3">
            <a:alphaModFix/>
          </a:blip>
          <a:stretch>
            <a:fillRect/>
          </a:stretch>
        </p:blipFill>
        <p:spPr>
          <a:xfrm>
            <a:off x="515700" y="1171628"/>
            <a:ext cx="3578700" cy="1566600"/>
          </a:xfrm>
          <a:prstGeom prst="rect">
            <a:avLst/>
          </a:prstGeom>
          <a:noFill/>
          <a:ln>
            <a:noFill/>
          </a:ln>
        </p:spPr>
      </p:pic>
      <p:sp>
        <p:nvSpPr>
          <p:cNvPr id="212" name="Google Shape;212;g3b118c12210_0_9"/>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9"/>
          <p:cNvSpPr txBox="1"/>
          <p:nvPr>
            <p:ph type="title"/>
          </p:nvPr>
        </p:nvSpPr>
        <p:spPr>
          <a:xfrm>
            <a:off x="131292" y="753463"/>
            <a:ext cx="20110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Discussion</a:t>
            </a:r>
            <a:endParaRPr/>
          </a:p>
        </p:txBody>
      </p:sp>
      <p:sp>
        <p:nvSpPr>
          <p:cNvPr id="218" name="Google Shape;218;p9"/>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219" name="Google Shape;219;p9"/>
          <p:cNvSpPr txBox="1"/>
          <p:nvPr/>
        </p:nvSpPr>
        <p:spPr>
          <a:xfrm>
            <a:off x="352175" y="1210908"/>
            <a:ext cx="3712800" cy="1051800"/>
          </a:xfrm>
          <a:prstGeom prst="rect">
            <a:avLst/>
          </a:prstGeom>
          <a:noFill/>
          <a:ln>
            <a:noFill/>
          </a:ln>
        </p:spPr>
        <p:txBody>
          <a:bodyPr anchorCtr="0" anchor="t" bIns="0" lIns="0" spcFirstLastPara="1" rIns="0" wrap="square" tIns="12700">
            <a:spAutoFit/>
          </a:bodyPr>
          <a:lstStyle/>
          <a:p>
            <a:pPr indent="-292100" lvl="0" marL="457200" rtl="0" algn="l">
              <a:lnSpc>
                <a:spcPct val="115000"/>
              </a:lnSpc>
              <a:spcBef>
                <a:spcPts val="0"/>
              </a:spcBef>
              <a:spcAft>
                <a:spcPts val="0"/>
              </a:spcAft>
              <a:buClr>
                <a:srgbClr val="3B3B3B"/>
              </a:buClr>
              <a:buSzPts val="1000"/>
              <a:buChar char="●"/>
            </a:pPr>
            <a:r>
              <a:rPr lang="en-US" sz="1000">
                <a:solidFill>
                  <a:srgbClr val="3B3B3B"/>
                </a:solidFill>
              </a:rPr>
              <a:t>The MSE loss accounts for the magnitude of the feature vector and the cosine similarity loss accounts for the direction of the feature vector in the feature space thus combined loss function gives higher accuracy.</a:t>
            </a:r>
            <a:endParaRPr sz="1000">
              <a:solidFill>
                <a:srgbClr val="3B3B3B"/>
              </a:solidFill>
            </a:endParaRPr>
          </a:p>
          <a:p>
            <a:pPr indent="-292100" lvl="0" marL="457200" rtl="0" algn="l">
              <a:lnSpc>
                <a:spcPct val="115000"/>
              </a:lnSpc>
              <a:spcBef>
                <a:spcPts val="0"/>
              </a:spcBef>
              <a:spcAft>
                <a:spcPts val="0"/>
              </a:spcAft>
              <a:buClr>
                <a:srgbClr val="3B3B3B"/>
              </a:buClr>
              <a:buSzPts val="1000"/>
              <a:buChar char="●"/>
            </a:pPr>
            <a:r>
              <a:rPr lang="en-US" sz="1000">
                <a:solidFill>
                  <a:srgbClr val="3B3B3B"/>
                </a:solidFill>
              </a:rPr>
              <a:t>The student model achieved 142.3 ms inference time, with 12.21× speedup and 10.25× model size reduction.</a:t>
            </a:r>
            <a:endParaRPr sz="1000">
              <a:solidFill>
                <a:srgbClr val="3B3B3B"/>
              </a:solidFill>
            </a:endParaRPr>
          </a:p>
        </p:txBody>
      </p:sp>
      <p:sp>
        <p:nvSpPr>
          <p:cNvPr id="220" name="Google Shape;220;p9"/>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0"/>
          <p:cNvSpPr txBox="1"/>
          <p:nvPr>
            <p:ph type="title"/>
          </p:nvPr>
        </p:nvSpPr>
        <p:spPr>
          <a:xfrm>
            <a:off x="131292" y="753463"/>
            <a:ext cx="2011045" cy="20764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Conclusion and Future Work</a:t>
            </a:r>
            <a:endParaRPr/>
          </a:p>
        </p:txBody>
      </p:sp>
      <p:sp>
        <p:nvSpPr>
          <p:cNvPr id="226" name="Google Shape;226;p10"/>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227" name="Google Shape;227;p10"/>
          <p:cNvSpPr txBox="1"/>
          <p:nvPr>
            <p:ph idx="1" type="body"/>
          </p:nvPr>
        </p:nvSpPr>
        <p:spPr>
          <a:xfrm>
            <a:off x="384875" y="1251725"/>
            <a:ext cx="3650700" cy="1797600"/>
          </a:xfrm>
          <a:prstGeom prst="rect">
            <a:avLst/>
          </a:prstGeom>
          <a:noFill/>
          <a:ln>
            <a:noFill/>
          </a:ln>
        </p:spPr>
        <p:txBody>
          <a:bodyPr anchorCtr="0" anchor="t" bIns="0" lIns="0" spcFirstLastPara="1" rIns="0" wrap="square" tIns="50150">
            <a:spAutoFit/>
          </a:bodyPr>
          <a:lstStyle/>
          <a:p>
            <a:pPr indent="-292100" lvl="0" marL="457200" rtl="0" algn="l">
              <a:lnSpc>
                <a:spcPct val="115000"/>
              </a:lnSpc>
              <a:spcBef>
                <a:spcPts val="1200"/>
              </a:spcBef>
              <a:spcAft>
                <a:spcPts val="0"/>
              </a:spcAft>
              <a:buClr>
                <a:srgbClr val="3B3B3B"/>
              </a:buClr>
              <a:buSzPts val="1000"/>
              <a:buChar char="●"/>
            </a:pPr>
            <a:r>
              <a:rPr lang="en-US">
                <a:solidFill>
                  <a:srgbClr val="3B3B3B"/>
                </a:solidFill>
                <a:latin typeface="Arial"/>
                <a:ea typeface="Arial"/>
                <a:cs typeface="Arial"/>
                <a:sym typeface="Arial"/>
              </a:rPr>
              <a:t>A new dataset of 14,000 CCTV images was introduced, classified into Blocked and Normal categories.</a:t>
            </a:r>
            <a:endParaRPr>
              <a:solidFill>
                <a:srgbClr val="3B3B3B"/>
              </a:solidFill>
              <a:latin typeface="Arial"/>
              <a:ea typeface="Arial"/>
              <a:cs typeface="Arial"/>
              <a:sym typeface="Arial"/>
            </a:endParaRPr>
          </a:p>
          <a:p>
            <a:pPr indent="-292100" lvl="0" marL="457200" rtl="0" algn="l">
              <a:lnSpc>
                <a:spcPct val="115000"/>
              </a:lnSpc>
              <a:spcBef>
                <a:spcPts val="0"/>
              </a:spcBef>
              <a:spcAft>
                <a:spcPts val="0"/>
              </a:spcAft>
              <a:buClr>
                <a:srgbClr val="3B3B3B"/>
              </a:buClr>
              <a:buSzPts val="1000"/>
              <a:buChar char="●"/>
            </a:pPr>
            <a:r>
              <a:rPr lang="en-US">
                <a:solidFill>
                  <a:srgbClr val="3B3B3B"/>
                </a:solidFill>
                <a:latin typeface="Arial"/>
                <a:ea typeface="Arial"/>
                <a:cs typeface="Arial"/>
                <a:sym typeface="Arial"/>
              </a:rPr>
              <a:t>Future work will focus on expanding the dataset, improving robustness under diverse conditions.</a:t>
            </a:r>
            <a:endParaRPr>
              <a:solidFill>
                <a:srgbClr val="3B3B3B"/>
              </a:solidFill>
              <a:latin typeface="Arial"/>
              <a:ea typeface="Arial"/>
              <a:cs typeface="Arial"/>
              <a:sym typeface="Arial"/>
            </a:endParaRPr>
          </a:p>
          <a:p>
            <a:pPr indent="-292100" lvl="0" marL="457200" rtl="0" algn="l">
              <a:lnSpc>
                <a:spcPct val="115000"/>
              </a:lnSpc>
              <a:spcBef>
                <a:spcPts val="0"/>
              </a:spcBef>
              <a:spcAft>
                <a:spcPts val="0"/>
              </a:spcAft>
              <a:buClr>
                <a:srgbClr val="3B3B3B"/>
              </a:buClr>
              <a:buSzPts val="1000"/>
              <a:buChar char="●"/>
            </a:pPr>
            <a:r>
              <a:rPr lang="en-US">
                <a:solidFill>
                  <a:srgbClr val="3B3B3B"/>
                </a:solidFill>
                <a:latin typeface="Arial"/>
                <a:ea typeface="Arial"/>
                <a:cs typeface="Arial"/>
                <a:sym typeface="Arial"/>
              </a:rPr>
              <a:t>Combined MSE and cosine similarity loss model achieved the best accuracy of 96.88% after optimization with the small model thus suitable for deployment on low </a:t>
            </a:r>
            <a:r>
              <a:rPr lang="en-US">
                <a:solidFill>
                  <a:srgbClr val="3B3B3B"/>
                </a:solidFill>
                <a:latin typeface="Arial"/>
                <a:ea typeface="Arial"/>
                <a:cs typeface="Arial"/>
                <a:sym typeface="Arial"/>
              </a:rPr>
              <a:t>resource</a:t>
            </a:r>
            <a:r>
              <a:rPr lang="en-US">
                <a:solidFill>
                  <a:srgbClr val="3B3B3B"/>
                </a:solidFill>
                <a:latin typeface="Arial"/>
                <a:ea typeface="Arial"/>
                <a:cs typeface="Arial"/>
                <a:sym typeface="Arial"/>
              </a:rPr>
              <a:t> systems.</a:t>
            </a:r>
            <a:endParaRPr>
              <a:solidFill>
                <a:srgbClr val="3B3B3B"/>
              </a:solidFill>
              <a:latin typeface="Arial"/>
              <a:ea typeface="Arial"/>
              <a:cs typeface="Arial"/>
              <a:sym typeface="Arial"/>
            </a:endParaRPr>
          </a:p>
          <a:p>
            <a:pPr indent="-292100" lvl="0" marL="457200" rtl="0" algn="l">
              <a:lnSpc>
                <a:spcPct val="115000"/>
              </a:lnSpc>
              <a:spcBef>
                <a:spcPts val="0"/>
              </a:spcBef>
              <a:spcAft>
                <a:spcPts val="0"/>
              </a:spcAft>
              <a:buClr>
                <a:srgbClr val="3B3B3B"/>
              </a:buClr>
              <a:buSzPts val="1000"/>
              <a:buChar char="●"/>
            </a:pPr>
            <a:r>
              <a:rPr lang="en-US">
                <a:solidFill>
                  <a:srgbClr val="3B3B3B"/>
                </a:solidFill>
                <a:latin typeface="Arial"/>
                <a:ea typeface="Arial"/>
                <a:cs typeface="Arial"/>
                <a:sym typeface="Arial"/>
              </a:rPr>
              <a:t>Other model compression techniques like </a:t>
            </a:r>
            <a:r>
              <a:rPr lang="en-US">
                <a:solidFill>
                  <a:srgbClr val="3B3B3B"/>
                </a:solidFill>
                <a:latin typeface="Arial"/>
                <a:ea typeface="Arial"/>
                <a:cs typeface="Arial"/>
                <a:sym typeface="Arial"/>
              </a:rPr>
              <a:t>quantization</a:t>
            </a:r>
            <a:r>
              <a:rPr lang="en-US">
                <a:solidFill>
                  <a:srgbClr val="3B3B3B"/>
                </a:solidFill>
                <a:latin typeface="Arial"/>
                <a:ea typeface="Arial"/>
                <a:cs typeface="Arial"/>
                <a:sym typeface="Arial"/>
              </a:rPr>
              <a:t> can be implemented on the models.</a:t>
            </a:r>
            <a:endParaRPr>
              <a:solidFill>
                <a:srgbClr val="3B3B3B"/>
              </a:solidFill>
            </a:endParaRPr>
          </a:p>
        </p:txBody>
      </p:sp>
      <p:sp>
        <p:nvSpPr>
          <p:cNvPr id="228" name="Google Shape;228;p10"/>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1"/>
          <p:cNvSpPr txBox="1"/>
          <p:nvPr/>
        </p:nvSpPr>
        <p:spPr>
          <a:xfrm>
            <a:off x="131292" y="753463"/>
            <a:ext cx="789940" cy="20764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200">
                <a:solidFill>
                  <a:srgbClr val="FFFFFF"/>
                </a:solidFill>
                <a:latin typeface="Arial"/>
                <a:ea typeface="Arial"/>
                <a:cs typeface="Arial"/>
                <a:sym typeface="Arial"/>
              </a:rPr>
              <a:t>Thank You</a:t>
            </a:r>
            <a:endParaRPr sz="1200">
              <a:latin typeface="Arial"/>
              <a:ea typeface="Arial"/>
              <a:cs typeface="Arial"/>
              <a:sym typeface="Arial"/>
            </a:endParaRPr>
          </a:p>
        </p:txBody>
      </p:sp>
      <p:sp>
        <p:nvSpPr>
          <p:cNvPr id="234" name="Google Shape;234;p11"/>
          <p:cNvSpPr txBox="1"/>
          <p:nvPr>
            <p:ph idx="11" type="ftr"/>
          </p:nvPr>
        </p:nvSpPr>
        <p:spPr>
          <a:xfrm>
            <a:off x="4287317" y="3341157"/>
            <a:ext cx="333375" cy="89535"/>
          </a:xfrm>
          <a:prstGeom prst="rect">
            <a:avLst/>
          </a:prstGeom>
          <a:noFill/>
          <a:ln>
            <a:noFill/>
          </a:ln>
        </p:spPr>
        <p:txBody>
          <a:bodyPr anchorCtr="0" anchor="t" bIns="0" lIns="0" spcFirstLastPara="1" rIns="0" wrap="square" tIns="0">
            <a:spAutoFit/>
          </a:bodyPr>
          <a:lstStyle/>
          <a:p>
            <a:pPr indent="0" lvl="0" marL="12700" rtl="0" algn="l">
              <a:lnSpc>
                <a:spcPct val="116000"/>
              </a:lnSpc>
              <a:spcBef>
                <a:spcPts val="0"/>
              </a:spcBef>
              <a:spcAft>
                <a:spcPts val="0"/>
              </a:spcAft>
              <a:buNone/>
            </a:pPr>
            <a:r>
              <a:rPr lang="en-US"/>
              <a:t>Kancheepu</a:t>
            </a:r>
            <a:endParaRPr/>
          </a:p>
        </p:txBody>
      </p:sp>
      <p:sp>
        <p:nvSpPr>
          <p:cNvPr id="235" name="Google Shape;235;p11"/>
          <p:cNvSpPr txBox="1"/>
          <p:nvPr/>
        </p:nvSpPr>
        <p:spPr>
          <a:xfrm>
            <a:off x="1273467" y="1637380"/>
            <a:ext cx="2061900" cy="974100"/>
          </a:xfrm>
          <a:prstGeom prst="rect">
            <a:avLst/>
          </a:prstGeom>
          <a:noFill/>
          <a:ln>
            <a:noFill/>
          </a:ln>
        </p:spPr>
        <p:txBody>
          <a:bodyPr anchorCtr="0" anchor="t" bIns="0" lIns="0" spcFirstLastPara="1" rIns="0" wrap="square" tIns="15225">
            <a:spAutoFit/>
          </a:bodyPr>
          <a:lstStyle/>
          <a:p>
            <a:pPr indent="0" lvl="0" marL="0" rtl="0" algn="ctr">
              <a:lnSpc>
                <a:spcPct val="100000"/>
              </a:lnSpc>
              <a:spcBef>
                <a:spcPts val="0"/>
              </a:spcBef>
              <a:spcAft>
                <a:spcPts val="0"/>
              </a:spcAft>
              <a:buNone/>
            </a:pPr>
            <a:r>
              <a:rPr lang="en-US" sz="1700">
                <a:solidFill>
                  <a:srgbClr val="00468C"/>
                </a:solidFill>
                <a:latin typeface="Tahoma"/>
                <a:ea typeface="Tahoma"/>
                <a:cs typeface="Tahoma"/>
                <a:sym typeface="Tahoma"/>
              </a:rPr>
              <a:t>Thank You!</a:t>
            </a:r>
            <a:endParaRPr sz="1700">
              <a:latin typeface="Tahoma"/>
              <a:ea typeface="Tahoma"/>
              <a:cs typeface="Tahoma"/>
              <a:sym typeface="Tahoma"/>
            </a:endParaRPr>
          </a:p>
          <a:p>
            <a:pPr indent="0" lvl="0" marL="0" rtl="0" algn="ctr">
              <a:lnSpc>
                <a:spcPct val="100000"/>
              </a:lnSpc>
              <a:spcBef>
                <a:spcPts val="990"/>
              </a:spcBef>
              <a:spcAft>
                <a:spcPts val="0"/>
              </a:spcAft>
              <a:buNone/>
            </a:pPr>
            <a:r>
              <a:rPr lang="en-US" sz="1000">
                <a:solidFill>
                  <a:srgbClr val="3B3B3B"/>
                </a:solidFill>
                <a:latin typeface="Tahoma"/>
                <a:ea typeface="Tahoma"/>
                <a:cs typeface="Tahoma"/>
                <a:sym typeface="Tahoma"/>
              </a:rPr>
              <a:t>Questions and discussion are welcome.</a:t>
            </a:r>
            <a:endParaRPr sz="1000">
              <a:latin typeface="Tahoma"/>
              <a:ea typeface="Tahoma"/>
              <a:cs typeface="Tahoma"/>
              <a:sym typeface="Tahoma"/>
            </a:endParaRPr>
          </a:p>
          <a:p>
            <a:pPr indent="0" lvl="0" marL="0" rtl="0" algn="ctr">
              <a:lnSpc>
                <a:spcPct val="100000"/>
              </a:lnSpc>
              <a:spcBef>
                <a:spcPts val="844"/>
              </a:spcBef>
              <a:spcAft>
                <a:spcPts val="0"/>
              </a:spcAft>
              <a:buNone/>
            </a:pPr>
            <a:r>
              <a:rPr lang="en-US" sz="1000" u="sng">
                <a:solidFill>
                  <a:srgbClr val="3B3B3B"/>
                </a:solidFill>
                <a:latin typeface="Calibri"/>
                <a:ea typeface="Calibri"/>
                <a:cs typeface="Calibri"/>
                <a:sym typeface="Calibri"/>
              </a:rPr>
              <a:t>emmanuel22bcs104</a:t>
            </a:r>
            <a:r>
              <a:rPr lang="en-US" sz="1000" u="sng">
                <a:solidFill>
                  <a:srgbClr val="3B3B3B"/>
                </a:solidFill>
                <a:latin typeface="Calibri"/>
                <a:ea typeface="Calibri"/>
                <a:cs typeface="Calibri"/>
                <a:sym typeface="Calibri"/>
                <a:hlinkClick r:id="rId3">
                  <a:extLst>
                    <a:ext uri="{A12FA001-AC4F-418D-AE19-62706E023703}">
                      <ahyp:hlinkClr val="tx"/>
                    </a:ext>
                  </a:extLst>
                </a:hlinkClick>
              </a:rPr>
              <a:t>@iiitkottayam.ac.in</a:t>
            </a:r>
            <a:endParaRPr sz="1000" u="sng">
              <a:solidFill>
                <a:srgbClr val="3B3B3B"/>
              </a:solidFill>
              <a:latin typeface="Calibri"/>
              <a:ea typeface="Calibri"/>
              <a:cs typeface="Calibri"/>
              <a:sym typeface="Calibri"/>
            </a:endParaRPr>
          </a:p>
        </p:txBody>
      </p:sp>
      <p:sp>
        <p:nvSpPr>
          <p:cNvPr id="236" name="Google Shape;236;p11"/>
          <p:cNvSpPr txBox="1"/>
          <p:nvPr/>
        </p:nvSpPr>
        <p:spPr>
          <a:xfrm>
            <a:off x="95300" y="3339950"/>
            <a:ext cx="1416300" cy="77100"/>
          </a:xfrm>
          <a:prstGeom prst="rect">
            <a:avLst/>
          </a:prstGeom>
          <a:noFill/>
          <a:ln>
            <a:noFill/>
          </a:ln>
        </p:spPr>
        <p:txBody>
          <a:bodyPr anchorCtr="0" anchor="t" bIns="0" lIns="0" spcFirstLastPara="1" rIns="0" wrap="square" tIns="0">
            <a:spAutoFit/>
          </a:bodyPr>
          <a:lstStyle/>
          <a:p>
            <a:pPr indent="0" lvl="0" marL="12700" rtl="0" algn="l">
              <a:lnSpc>
                <a:spcPct val="118000"/>
              </a:lnSpc>
              <a:spcBef>
                <a:spcPts val="0"/>
              </a:spcBef>
              <a:spcAft>
                <a:spcPts val="0"/>
              </a:spcAft>
              <a:buNone/>
            </a:pPr>
            <a:r>
              <a:rPr b="1" lang="en-US" sz="500"/>
              <a:t>Camera Obstruction Detection</a:t>
            </a:r>
            <a:endParaRPr sz="500">
              <a:latin typeface="Arial"/>
              <a:ea typeface="Arial"/>
              <a:cs typeface="Arial"/>
              <a:sym typeface="Arial"/>
            </a:endParaRPr>
          </a:p>
        </p:txBody>
      </p:sp>
    </p:spTree>
  </p:cSld>
  <p:clrMapOvr>
    <a:masterClrMapping/>
  </p:clrMapOvr>
  <p:transition>
    <p:cut/>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2025-12-08T13:04:05Z</dcterms:created>
  <dc:creator>Dr. Priyanka Kokil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2025-12-08T00:00:00Z</vt:filetime>
  </property>
  <property fmtid="{D5CDD505-2E9C-101B-9397-08002B2CF9AE}" pid="3" name="Creator">
    <vt:lpwstr>LaTeX with Beamer class</vt:lpwstr>
  </property>
  <property fmtid="{D5CDD505-2E9C-101B-9397-08002B2CF9AE}" pid="4" name="LastSaved">
    <vt:filetime>2025-12-08T00:00:00Z</vt:filetime>
  </property>
  <property fmtid="{D5CDD505-2E9C-101B-9397-08002B2CF9AE}" pid="5" name="PTEX.Fullbanner">
    <vt:lpwstr>This is pdfTeX, Version 3.141592653-2.6-1.40.27 (TeX Live 2025) kpathsea version 6.4.1</vt:lpwstr>
  </property>
  <property fmtid="{D5CDD505-2E9C-101B-9397-08002B2CF9AE}" pid="6" name="Producer">
    <vt:lpwstr>pdfTeX-1.40.27</vt:lpwstr>
  </property>
</Properties>
</file>